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Potentially making it a point to make it distinctly a month and a week pass instead of a 4 days - 30 days and a 30 day 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x-button vs the drag bar difference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image" Target="../media/image-3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C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8863" y="2090738"/>
            <a:ext cx="4948238" cy="966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GCOO Store</a:t>
            </a:r>
            <a:endParaRPr lang="en-US" sz="63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676275"/>
            <a:ext cx="4924425" cy="378618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800100" y="676275"/>
            <a:ext cx="4924425" cy="3786188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800100" y="676275"/>
            <a:ext cx="5381625" cy="566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75"/>
              </a:lnSpc>
              <a:buNone/>
            </a:pPr>
            <a:r>
              <a:rPr lang="en-US" sz="3750" b="1" spc="-75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Overview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800100" y="1495425"/>
            <a:ext cx="538162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191"/>
              </a:lnSpc>
              <a:buSzPct val="100000"/>
              <a:buChar char="•"/>
            </a:pPr>
            <a:r>
              <a:rPr lang="en-US" sz="1836" b="1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re-design </a:t>
            </a:r>
            <a:endParaRPr lang="en-US" sz="1836" dirty="0"/>
          </a:p>
          <a:p>
            <a:pPr algn="l" indent="0" marL="0">
              <a:lnSpc>
                <a:spcPts val="2191"/>
              </a:lnSpc>
              <a:buNone/>
            </a:pPr>
            <a:r>
              <a:rPr lang="en-US" sz="1836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Problem &amp; proposed solution</a:t>
            </a:r>
            <a:endParaRPr lang="en-US" sz="1836" dirty="0"/>
          </a:p>
        </p:txBody>
      </p:sp>
      <p:sp>
        <p:nvSpPr>
          <p:cNvPr id="6" name="Text 4"/>
          <p:cNvSpPr/>
          <p:nvPr/>
        </p:nvSpPr>
        <p:spPr>
          <a:xfrm>
            <a:off x="800100" y="2300288"/>
            <a:ext cx="538162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191"/>
              </a:lnSpc>
              <a:buSzPct val="100000"/>
              <a:buChar char="•"/>
            </a:pPr>
            <a:r>
              <a:rPr lang="en-US" sz="1836" b="1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organization/hierarchy</a:t>
            </a:r>
            <a:endParaRPr lang="en-US" sz="1836" dirty="0"/>
          </a:p>
          <a:p>
            <a:pPr algn="l" indent="0" marL="0">
              <a:lnSpc>
                <a:spcPts val="2191"/>
              </a:lnSpc>
              <a:buNone/>
            </a:pPr>
            <a:r>
              <a:rPr lang="en-US" sz="1836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Proposed alternative frameworks</a:t>
            </a:r>
            <a:endParaRPr lang="en-US" sz="1836" dirty="0"/>
          </a:p>
        </p:txBody>
      </p:sp>
      <p:sp>
        <p:nvSpPr>
          <p:cNvPr id="7" name="Text 5"/>
          <p:cNvSpPr/>
          <p:nvPr/>
        </p:nvSpPr>
        <p:spPr>
          <a:xfrm>
            <a:off x="800100" y="3105150"/>
            <a:ext cx="538162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191"/>
              </a:lnSpc>
              <a:buSzPct val="100000"/>
              <a:buChar char="•"/>
            </a:pPr>
            <a:r>
              <a:rPr lang="en-US" sz="1836" b="1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 information &amp; purchase </a:t>
            </a:r>
            <a:endParaRPr lang="en-US" sz="1836" dirty="0"/>
          </a:p>
          <a:p>
            <a:pPr algn="l" indent="0" marL="0">
              <a:lnSpc>
                <a:spcPts val="2191"/>
              </a:lnSpc>
              <a:buNone/>
            </a:pPr>
            <a:r>
              <a:rPr lang="en-US" sz="1836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Problem &amp; proposed solution</a:t>
            </a:r>
            <a:endParaRPr lang="en-US" sz="1836" dirty="0"/>
          </a:p>
        </p:txBody>
      </p:sp>
      <p:sp>
        <p:nvSpPr>
          <p:cNvPr id="8" name="Text 6"/>
          <p:cNvSpPr/>
          <p:nvPr/>
        </p:nvSpPr>
        <p:spPr>
          <a:xfrm>
            <a:off x="800100" y="3910013"/>
            <a:ext cx="538162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191"/>
              </a:lnSpc>
              <a:buSzPct val="100000"/>
              <a:buChar char="•"/>
            </a:pPr>
            <a:r>
              <a:rPr lang="en-US" sz="1836" b="1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 tab &amp; card design</a:t>
            </a:r>
            <a:endParaRPr lang="en-US" sz="1836" dirty="0"/>
          </a:p>
          <a:p>
            <a:pPr algn="l" indent="0" marL="0">
              <a:lnSpc>
                <a:spcPts val="2191"/>
              </a:lnSpc>
              <a:buNone/>
            </a:pPr>
            <a:r>
              <a:rPr lang="en-US" sz="1836" spc="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Proposed alternative frameworks</a:t>
            </a:r>
            <a:endParaRPr lang="en-US" sz="183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8925" y="2090738"/>
            <a:ext cx="3948113" cy="966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26C86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Problems</a:t>
            </a:r>
            <a:endParaRPr lang="en-US" sz="63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1163" y="110966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19150"/>
            <a:ext cx="1847850" cy="4000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819150"/>
            <a:ext cx="1847850" cy="4000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285750"/>
            <a:ext cx="193833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Navigation</a:t>
            </a:r>
            <a:endParaRPr lang="en-US" sz="1125" dirty="0"/>
          </a:p>
        </p:txBody>
      </p:sp>
      <p:sp>
        <p:nvSpPr>
          <p:cNvPr id="6" name="Text 2"/>
          <p:cNvSpPr/>
          <p:nvPr/>
        </p:nvSpPr>
        <p:spPr>
          <a:xfrm>
            <a:off x="11625263" y="1119188"/>
            <a:ext cx="38052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It’s currently very challenging to find the store without the ad banner.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62163" y="379571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062163" y="110966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4" name="Shape 2"/>
          <p:cNvSpPr/>
          <p:nvPr/>
        </p:nvSpPr>
        <p:spPr>
          <a:xfrm>
            <a:off x="9215438" y="110966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19150"/>
            <a:ext cx="1847850" cy="4000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819150"/>
            <a:ext cx="1847850" cy="40005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297" y="3871492"/>
            <a:ext cx="2088612" cy="952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297" y="1185442"/>
            <a:ext cx="2088612" cy="95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85750" y="285750"/>
            <a:ext cx="284797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Navigation to Store Page</a:t>
            </a:r>
            <a:endParaRPr lang="en-US" sz="1125" dirty="0"/>
          </a:p>
        </p:txBody>
      </p:sp>
      <p:sp>
        <p:nvSpPr>
          <p:cNvPr id="10" name="Text 4"/>
          <p:cNvSpPr/>
          <p:nvPr/>
        </p:nvSpPr>
        <p:spPr>
          <a:xfrm>
            <a:off x="4386263" y="3805237"/>
            <a:ext cx="412908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GCOO Pass option  is only displayed sometimes vs. being statically present on the home page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4386263" y="1119188"/>
            <a:ext cx="38052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It’s currently very challenging to find the store without the ad banner.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539538" y="1119188"/>
            <a:ext cx="38052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It’s currently very challenging to find the store without the ad banner.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2763" y="1704975"/>
            <a:ext cx="3038475" cy="1734531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2763" y="1704975"/>
            <a:ext cx="3038475" cy="1734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5750" y="285750"/>
            <a:ext cx="257651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 card: Density of information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2763" y="1704975"/>
            <a:ext cx="3038475" cy="1734531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2971800" y="191452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4" name="Shape 2"/>
          <p:cNvSpPr/>
          <p:nvPr/>
        </p:nvSpPr>
        <p:spPr>
          <a:xfrm>
            <a:off x="5072063" y="27336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240506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6" name="Shape 4"/>
          <p:cNvSpPr/>
          <p:nvPr/>
        </p:nvSpPr>
        <p:spPr>
          <a:xfrm>
            <a:off x="5748338" y="2076450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904" y="1997982"/>
            <a:ext cx="701441" cy="952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49" y="2824135"/>
            <a:ext cx="1645425" cy="952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904" y="2488520"/>
            <a:ext cx="701441" cy="952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481" y="2159308"/>
            <a:ext cx="809644" cy="952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2763" y="1704975"/>
            <a:ext cx="3038475" cy="173453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10375" y="2095500"/>
            <a:ext cx="2100263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is too much of a focal point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638175" y="2419350"/>
            <a:ext cx="2005012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Discount indication is confusing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547688" y="1866900"/>
            <a:ext cx="21050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Pass names and descriptions are potentially confusing to the users 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6972300" y="2757488"/>
            <a:ext cx="2157413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Label system is too much to digest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285750" y="285750"/>
            <a:ext cx="257651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 card: Density of information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819150"/>
            <a:ext cx="1847522" cy="4000500"/>
          </a:xfrm>
          <a:prstGeom prst="roundRect">
            <a:avLst>
              <a:gd name="adj" fmla="val 9899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85750" y="1632050"/>
            <a:ext cx="1847522" cy="3187591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4" name="Shape 2"/>
          <p:cNvSpPr/>
          <p:nvPr/>
        </p:nvSpPr>
        <p:spPr>
          <a:xfrm>
            <a:off x="384284" y="651644"/>
            <a:ext cx="1650451" cy="5981864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85750" y="819150"/>
            <a:ext cx="1847522" cy="812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4573" y="1533537"/>
            <a:ext cx="1689866" cy="147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" name="Shape 5"/>
          <p:cNvSpPr/>
          <p:nvPr/>
        </p:nvSpPr>
        <p:spPr>
          <a:xfrm>
            <a:off x="364573" y="1533537"/>
            <a:ext cx="891737" cy="14780"/>
          </a:xfrm>
          <a:prstGeom prst="rect">
            <a:avLst/>
          </a:prstGeom>
          <a:solidFill>
            <a:srgbClr val="161D2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19150"/>
            <a:ext cx="1847522" cy="216776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035942"/>
            <a:ext cx="1847522" cy="236483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84" y="651644"/>
            <a:ext cx="1650453" cy="77021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84" y="1648484"/>
            <a:ext cx="1650453" cy="31711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85750" y="285750"/>
            <a:ext cx="267652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Density of information</a:t>
            </a:r>
            <a:endParaRPr lang="en-US" sz="1125" dirty="0"/>
          </a:p>
        </p:txBody>
      </p:sp>
      <p:sp>
        <p:nvSpPr>
          <p:cNvPr id="13" name="Text 7"/>
          <p:cNvSpPr/>
          <p:nvPr/>
        </p:nvSpPr>
        <p:spPr>
          <a:xfrm>
            <a:off x="665108" y="1346311"/>
            <a:ext cx="742950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41"/>
              </a:lnSpc>
              <a:buNone/>
            </a:pPr>
            <a:r>
              <a:rPr lang="en-US" sz="621" b="1" spc="-16" kern="0" dirty="0">
                <a:solidFill>
                  <a:srgbClr val="161D2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</a:t>
            </a:r>
            <a:endParaRPr lang="en-US" sz="621" dirty="0"/>
          </a:p>
        </p:txBody>
      </p:sp>
      <p:sp>
        <p:nvSpPr>
          <p:cNvPr id="14" name="Text 8"/>
          <p:cNvSpPr/>
          <p:nvPr/>
        </p:nvSpPr>
        <p:spPr>
          <a:xfrm>
            <a:off x="1458306" y="1346311"/>
            <a:ext cx="811924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41"/>
              </a:lnSpc>
              <a:buNone/>
            </a:pPr>
            <a:r>
              <a:rPr lang="en-US" sz="621" b="1" spc="-16" kern="0" dirty="0">
                <a:solidFill>
                  <a:srgbClr val="C5C8C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구매내역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819150"/>
            <a:ext cx="1847522" cy="4000500"/>
          </a:xfrm>
          <a:prstGeom prst="roundRect">
            <a:avLst>
              <a:gd name="adj" fmla="val 9899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628775" y="21621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4" name="Shape 2"/>
          <p:cNvSpPr/>
          <p:nvPr/>
        </p:nvSpPr>
        <p:spPr>
          <a:xfrm>
            <a:off x="1814513" y="3486150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5" name="Shape 3"/>
          <p:cNvSpPr/>
          <p:nvPr/>
        </p:nvSpPr>
        <p:spPr>
          <a:xfrm>
            <a:off x="1971675" y="3576638"/>
            <a:ext cx="1076325" cy="0"/>
          </a:xfrm>
          <a:prstGeom prst="line">
            <a:avLst/>
          </a:prstGeom>
          <a:noFill/>
          <a:ln w="25400">
            <a:solidFill>
              <a:srgbClr val="12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750" y="1632050"/>
            <a:ext cx="1847522" cy="3187591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384284" y="651644"/>
            <a:ext cx="1650451" cy="5981864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285750" y="819150"/>
            <a:ext cx="1847522" cy="8129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64573" y="1533537"/>
            <a:ext cx="1689866" cy="147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364573" y="1533537"/>
            <a:ext cx="891737" cy="14780"/>
          </a:xfrm>
          <a:prstGeom prst="rect">
            <a:avLst/>
          </a:prstGeom>
          <a:solidFill>
            <a:srgbClr val="161D2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919" y="2245033"/>
            <a:ext cx="809644" cy="9525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19150"/>
            <a:ext cx="1847522" cy="216776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35942"/>
            <a:ext cx="1847522" cy="236483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84" y="651644"/>
            <a:ext cx="1650457" cy="77021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284" y="1648484"/>
            <a:ext cx="1650457" cy="31711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5750" y="285750"/>
            <a:ext cx="267652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Density of information</a:t>
            </a:r>
            <a:endParaRPr lang="en-US" sz="1125" dirty="0"/>
          </a:p>
        </p:txBody>
      </p:sp>
      <p:sp>
        <p:nvSpPr>
          <p:cNvPr id="17" name="Text 10"/>
          <p:cNvSpPr/>
          <p:nvPr/>
        </p:nvSpPr>
        <p:spPr>
          <a:xfrm>
            <a:off x="2667000" y="2171700"/>
            <a:ext cx="5376863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Dropdown disrupts the user experience by moving the other card upon opening the dropdown    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3162300" y="3500438"/>
            <a:ext cx="49482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Dropdown has a lot of information that is difficult for average GCOO user to read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665104" y="1346311"/>
            <a:ext cx="742950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41"/>
              </a:lnSpc>
              <a:buNone/>
            </a:pPr>
            <a:r>
              <a:rPr lang="en-US" sz="621" b="1" spc="-16" kern="0" dirty="0">
                <a:solidFill>
                  <a:srgbClr val="161D2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</a:t>
            </a:r>
            <a:endParaRPr lang="en-US" sz="621" dirty="0"/>
          </a:p>
        </p:txBody>
      </p:sp>
      <p:sp>
        <p:nvSpPr>
          <p:cNvPr id="20" name="Text 13"/>
          <p:cNvSpPr/>
          <p:nvPr/>
        </p:nvSpPr>
        <p:spPr>
          <a:xfrm>
            <a:off x="1458311" y="1346311"/>
            <a:ext cx="811924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41"/>
              </a:lnSpc>
              <a:buNone/>
            </a:pPr>
            <a:r>
              <a:rPr lang="en-US" sz="621" b="1" spc="-16" kern="0" dirty="0">
                <a:solidFill>
                  <a:srgbClr val="C5C8C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구매내역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663" y="819150"/>
            <a:ext cx="1785938" cy="4000500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23863" y="1509713"/>
            <a:ext cx="1633538" cy="14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" name="Shape 2"/>
          <p:cNvSpPr/>
          <p:nvPr/>
        </p:nvSpPr>
        <p:spPr>
          <a:xfrm>
            <a:off x="423863" y="1509713"/>
            <a:ext cx="862013" cy="14288"/>
          </a:xfrm>
          <a:prstGeom prst="rect">
            <a:avLst/>
          </a:prstGeom>
          <a:solidFill>
            <a:srgbClr val="161D24"/>
          </a:solidFill>
          <a:ln/>
        </p:spPr>
      </p:sp>
      <p:sp>
        <p:nvSpPr>
          <p:cNvPr id="5" name="Shape 3"/>
          <p:cNvSpPr/>
          <p:nvPr/>
        </p:nvSpPr>
        <p:spPr>
          <a:xfrm>
            <a:off x="347663" y="1604963"/>
            <a:ext cx="1785938" cy="308133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6" name="Shape 4"/>
          <p:cNvSpPr/>
          <p:nvPr/>
        </p:nvSpPr>
        <p:spPr>
          <a:xfrm>
            <a:off x="442913" y="1700213"/>
            <a:ext cx="1595438" cy="288131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47663" y="1509713"/>
            <a:ext cx="1785938" cy="3309938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663" y="819150"/>
            <a:ext cx="1785938" cy="216776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1028700"/>
            <a:ext cx="1785938" cy="2286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819150"/>
            <a:ext cx="1785938" cy="386715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1509713"/>
            <a:ext cx="1785938" cy="340042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" y="4643438"/>
            <a:ext cx="1785938" cy="16192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3" y="1700213"/>
            <a:ext cx="1595438" cy="909638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3" y="2686050"/>
            <a:ext cx="1595438" cy="909638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3" y="3671888"/>
            <a:ext cx="1595438" cy="90963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85750" y="285750"/>
            <a:ext cx="2671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Repetitive Information</a:t>
            </a:r>
            <a:endParaRPr lang="en-US" sz="1125" dirty="0"/>
          </a:p>
        </p:txBody>
      </p:sp>
      <p:sp>
        <p:nvSpPr>
          <p:cNvPr id="17" name="Text 7"/>
          <p:cNvSpPr/>
          <p:nvPr/>
        </p:nvSpPr>
        <p:spPr>
          <a:xfrm>
            <a:off x="714375" y="1328738"/>
            <a:ext cx="733425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6"/>
              </a:lnSpc>
              <a:buNone/>
            </a:pPr>
            <a:r>
              <a:rPr lang="en-US" sz="600" b="1" spc="-15" kern="0" dirty="0">
                <a:solidFill>
                  <a:srgbClr val="161D2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</a:t>
            </a:r>
            <a:endParaRPr lang="en-US" sz="600" dirty="0"/>
          </a:p>
        </p:txBody>
      </p:sp>
      <p:sp>
        <p:nvSpPr>
          <p:cNvPr id="18" name="Text 8"/>
          <p:cNvSpPr/>
          <p:nvPr/>
        </p:nvSpPr>
        <p:spPr>
          <a:xfrm>
            <a:off x="1481138" y="1328738"/>
            <a:ext cx="80010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6"/>
              </a:lnSpc>
              <a:buNone/>
            </a:pPr>
            <a:r>
              <a:rPr lang="en-US" sz="600" b="1" spc="-15" kern="0" dirty="0">
                <a:solidFill>
                  <a:srgbClr val="C5C8C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구매내역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663" y="819150"/>
            <a:ext cx="1785938" cy="4000500"/>
          </a:xfrm>
          <a:prstGeom prst="roundRect">
            <a:avLst>
              <a:gd name="adj" fmla="val 10240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924050" y="1866900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4" name="Shape 2"/>
          <p:cNvSpPr/>
          <p:nvPr/>
        </p:nvSpPr>
        <p:spPr>
          <a:xfrm>
            <a:off x="423863" y="1509713"/>
            <a:ext cx="1633538" cy="14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423863" y="1509713"/>
            <a:ext cx="862013" cy="14288"/>
          </a:xfrm>
          <a:prstGeom prst="rect">
            <a:avLst/>
          </a:prstGeom>
          <a:solidFill>
            <a:srgbClr val="161D24"/>
          </a:solidFill>
          <a:ln/>
        </p:spPr>
      </p:sp>
      <p:sp>
        <p:nvSpPr>
          <p:cNvPr id="6" name="Shape 4"/>
          <p:cNvSpPr/>
          <p:nvPr/>
        </p:nvSpPr>
        <p:spPr>
          <a:xfrm>
            <a:off x="347663" y="1604963"/>
            <a:ext cx="1785938" cy="308133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442913" y="1700213"/>
            <a:ext cx="1595438" cy="288131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47663" y="1509713"/>
            <a:ext cx="1785938" cy="3309938"/>
          </a:xfrm>
          <a:prstGeom prst="rect">
            <a:avLst/>
          </a:prstGeom>
          <a:noFill/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194" y="1949758"/>
            <a:ext cx="809644" cy="952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819150"/>
            <a:ext cx="1785938" cy="216776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3" y="1028700"/>
            <a:ext cx="1785938" cy="2286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3" y="819150"/>
            <a:ext cx="1785938" cy="386715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" y="1509713"/>
            <a:ext cx="1785938" cy="340042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3" y="4643438"/>
            <a:ext cx="1785938" cy="161925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3" y="1700213"/>
            <a:ext cx="1595438" cy="909638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3" y="2686050"/>
            <a:ext cx="1595438" cy="90963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913" y="3671888"/>
            <a:ext cx="1595438" cy="909638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285750" y="285750"/>
            <a:ext cx="2671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Repetitive Information</a:t>
            </a:r>
            <a:endParaRPr lang="en-US" sz="1125" dirty="0"/>
          </a:p>
        </p:txBody>
      </p:sp>
      <p:sp>
        <p:nvSpPr>
          <p:cNvPr id="19" name="Text 8"/>
          <p:cNvSpPr/>
          <p:nvPr/>
        </p:nvSpPr>
        <p:spPr>
          <a:xfrm>
            <a:off x="2962275" y="1881187"/>
            <a:ext cx="5376863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UI is repetitive and potentially confusing to the user</a:t>
            </a:r>
            <a:endParaRPr lang="en-US" sz="900" dirty="0"/>
          </a:p>
        </p:txBody>
      </p:sp>
      <p:sp>
        <p:nvSpPr>
          <p:cNvPr id="20" name="Text 9"/>
          <p:cNvSpPr/>
          <p:nvPr/>
        </p:nvSpPr>
        <p:spPr>
          <a:xfrm>
            <a:off x="714375" y="1328738"/>
            <a:ext cx="733425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6"/>
              </a:lnSpc>
              <a:buNone/>
            </a:pPr>
            <a:r>
              <a:rPr lang="en-US" sz="600" b="1" spc="-15" kern="0" dirty="0">
                <a:solidFill>
                  <a:srgbClr val="161D2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</a:t>
            </a:r>
            <a:endParaRPr lang="en-US" sz="600" dirty="0"/>
          </a:p>
        </p:txBody>
      </p:sp>
      <p:sp>
        <p:nvSpPr>
          <p:cNvPr id="21" name="Text 10"/>
          <p:cNvSpPr/>
          <p:nvPr/>
        </p:nvSpPr>
        <p:spPr>
          <a:xfrm>
            <a:off x="1481138" y="1328738"/>
            <a:ext cx="80010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6"/>
              </a:lnSpc>
              <a:buNone/>
            </a:pPr>
            <a:r>
              <a:rPr lang="en-US" sz="600" b="1" spc="-15" kern="0" dirty="0">
                <a:solidFill>
                  <a:srgbClr val="C5C8C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구매내역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19150"/>
            <a:ext cx="184785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19859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History Tab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6912" y="2228850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3" name="Shape 1"/>
          <p:cNvSpPr/>
          <p:nvPr/>
        </p:nvSpPr>
        <p:spPr>
          <a:xfrm>
            <a:off x="1881187" y="135731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19150"/>
            <a:ext cx="1847850" cy="4000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56" y="2311708"/>
            <a:ext cx="809644" cy="95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31" y="1440171"/>
            <a:ext cx="809644" cy="95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5750" y="285750"/>
            <a:ext cx="19859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page: History Tab</a:t>
            </a:r>
            <a:endParaRPr lang="en-US" sz="1125" dirty="0"/>
          </a:p>
        </p:txBody>
      </p:sp>
      <p:sp>
        <p:nvSpPr>
          <p:cNvPr id="8" name="Text 3"/>
          <p:cNvSpPr/>
          <p:nvPr/>
        </p:nvSpPr>
        <p:spPr>
          <a:xfrm>
            <a:off x="2919413" y="1371600"/>
            <a:ext cx="5376863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 tab/page is not utilized in the most effective way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000375" y="2243138"/>
            <a:ext cx="43910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design has a lot of detail but not enough value to make the amount of detail relevant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0125" y="2090738"/>
            <a:ext cx="7605712" cy="966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26C86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Proposed Solutions</a:t>
            </a:r>
            <a:endParaRPr lang="en-US" sz="63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1638" y="2090738"/>
            <a:ext cx="6257925" cy="966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Re-Design</a:t>
            </a:r>
            <a:endParaRPr lang="en-US" sz="63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985838"/>
            <a:ext cx="2608165" cy="155711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270451"/>
            <a:ext cx="2608165" cy="15571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609600"/>
            <a:ext cx="25574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Unselected Variant</a:t>
            </a:r>
            <a:endParaRPr lang="en-US" sz="1875" dirty="0"/>
          </a:p>
        </p:txBody>
      </p:sp>
      <p:sp>
        <p:nvSpPr>
          <p:cNvPr id="5" name="Text 1"/>
          <p:cNvSpPr/>
          <p:nvPr/>
        </p:nvSpPr>
        <p:spPr>
          <a:xfrm>
            <a:off x="285750" y="2895600"/>
            <a:ext cx="227647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Selected Variant</a:t>
            </a:r>
            <a:endParaRPr lang="en-US" sz="1875" dirty="0"/>
          </a:p>
        </p:txBody>
      </p:sp>
      <p:sp>
        <p:nvSpPr>
          <p:cNvPr id="6" name="Text 2"/>
          <p:cNvSpPr/>
          <p:nvPr/>
        </p:nvSpPr>
        <p:spPr>
          <a:xfrm>
            <a:off x="285750" y="285750"/>
            <a:ext cx="146208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1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62175" y="14382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319319" y="1447800"/>
            <a:ext cx="4652623" cy="1381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2819400" y="21621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5" name="Shape 3"/>
          <p:cNvSpPr/>
          <p:nvPr/>
        </p:nvSpPr>
        <p:spPr>
          <a:xfrm>
            <a:off x="2976544" y="2171700"/>
            <a:ext cx="2690473" cy="138113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985838"/>
            <a:ext cx="2608165" cy="155711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270451"/>
            <a:ext cx="2608165" cy="155711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19" y="1513614"/>
            <a:ext cx="947403" cy="10033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6544" y="2237514"/>
            <a:ext cx="947403" cy="1003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85750" y="609600"/>
            <a:ext cx="25574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Unselected Variant</a:t>
            </a:r>
            <a:endParaRPr lang="en-US" sz="1875" dirty="0"/>
          </a:p>
        </p:txBody>
      </p:sp>
      <p:sp>
        <p:nvSpPr>
          <p:cNvPr id="11" name="Text 5"/>
          <p:cNvSpPr/>
          <p:nvPr/>
        </p:nvSpPr>
        <p:spPr>
          <a:xfrm>
            <a:off x="285750" y="2895600"/>
            <a:ext cx="227647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Selected Variant</a:t>
            </a:r>
            <a:endParaRPr lang="en-US" sz="1875" dirty="0"/>
          </a:p>
        </p:txBody>
      </p:sp>
      <p:sp>
        <p:nvSpPr>
          <p:cNvPr id="12" name="Text 6"/>
          <p:cNvSpPr/>
          <p:nvPr/>
        </p:nvSpPr>
        <p:spPr>
          <a:xfrm>
            <a:off x="285750" y="285750"/>
            <a:ext cx="146208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1</a:t>
            </a:r>
            <a:endParaRPr lang="en-US" sz="1125" dirty="0"/>
          </a:p>
        </p:txBody>
      </p:sp>
      <p:sp>
        <p:nvSpPr>
          <p:cNvPr id="13" name="Text 7"/>
          <p:cNvSpPr/>
          <p:nvPr/>
        </p:nvSpPr>
        <p:spPr>
          <a:xfrm>
            <a:off x="3361972" y="1447800"/>
            <a:ext cx="40671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 on the pricing so the user knows how much they are paying 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019197" y="2171700"/>
            <a:ext cx="210502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Distinct buy and details buttons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776413"/>
            <a:ext cx="2618838" cy="15859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148113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2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62163" y="1957388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3" name="Shape 1"/>
          <p:cNvSpPr/>
          <p:nvPr/>
        </p:nvSpPr>
        <p:spPr>
          <a:xfrm>
            <a:off x="2219306" y="1966912"/>
            <a:ext cx="4104935" cy="138113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776413"/>
            <a:ext cx="2618838" cy="158598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06" y="2032727"/>
            <a:ext cx="947403" cy="100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285750"/>
            <a:ext cx="148113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2</a:t>
            </a:r>
            <a:endParaRPr lang="en-US" sz="1125" dirty="0"/>
          </a:p>
        </p:txBody>
      </p:sp>
      <p:sp>
        <p:nvSpPr>
          <p:cNvPr id="7" name="Text 3"/>
          <p:cNvSpPr/>
          <p:nvPr/>
        </p:nvSpPr>
        <p:spPr>
          <a:xfrm>
            <a:off x="3261959" y="1966912"/>
            <a:ext cx="351948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 on the name of the pass; but similar to Concept 1 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985838"/>
            <a:ext cx="2976823" cy="158069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271838"/>
            <a:ext cx="2976563" cy="158060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285750"/>
            <a:ext cx="14859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3</a:t>
            </a:r>
            <a:endParaRPr lang="en-US" sz="1125" dirty="0"/>
          </a:p>
        </p:txBody>
      </p:sp>
      <p:sp>
        <p:nvSpPr>
          <p:cNvPr id="5" name="Text 1"/>
          <p:cNvSpPr/>
          <p:nvPr/>
        </p:nvSpPr>
        <p:spPr>
          <a:xfrm>
            <a:off x="285750" y="609600"/>
            <a:ext cx="25574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Unselected Variant</a:t>
            </a:r>
            <a:endParaRPr lang="en-US" sz="1875" dirty="0"/>
          </a:p>
        </p:txBody>
      </p:sp>
      <p:sp>
        <p:nvSpPr>
          <p:cNvPr id="6" name="Text 2"/>
          <p:cNvSpPr/>
          <p:nvPr/>
        </p:nvSpPr>
        <p:spPr>
          <a:xfrm>
            <a:off x="285750" y="2895600"/>
            <a:ext cx="227647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Selected Variant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7063" y="375761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3" name="Shape 1"/>
          <p:cNvSpPr/>
          <p:nvPr/>
        </p:nvSpPr>
        <p:spPr>
          <a:xfrm>
            <a:off x="3324206" y="3767138"/>
            <a:ext cx="4172327" cy="1381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167063" y="22764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5" name="Shape 3"/>
          <p:cNvSpPr/>
          <p:nvPr/>
        </p:nvSpPr>
        <p:spPr>
          <a:xfrm>
            <a:off x="3324206" y="2286000"/>
            <a:ext cx="4396165" cy="138113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181225" y="11715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7" name="Shape 5"/>
          <p:cNvSpPr/>
          <p:nvPr/>
        </p:nvSpPr>
        <p:spPr>
          <a:xfrm>
            <a:off x="2338369" y="1181100"/>
            <a:ext cx="4115177" cy="138113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985838"/>
            <a:ext cx="2976822" cy="1580697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271838"/>
            <a:ext cx="2976563" cy="1580609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06" y="3828381"/>
            <a:ext cx="1472020" cy="1428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06" y="2347243"/>
            <a:ext cx="1472020" cy="14288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369" y="1242343"/>
            <a:ext cx="1472020" cy="142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5750" y="285750"/>
            <a:ext cx="14859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3</a:t>
            </a:r>
            <a:endParaRPr lang="en-US" sz="1125" dirty="0"/>
          </a:p>
        </p:txBody>
      </p:sp>
      <p:sp>
        <p:nvSpPr>
          <p:cNvPr id="14" name="Text 7"/>
          <p:cNvSpPr/>
          <p:nvPr/>
        </p:nvSpPr>
        <p:spPr>
          <a:xfrm>
            <a:off x="285750" y="609600"/>
            <a:ext cx="25574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Unselected Variant</a:t>
            </a:r>
            <a:endParaRPr lang="en-US" sz="1875" dirty="0"/>
          </a:p>
        </p:txBody>
      </p:sp>
      <p:sp>
        <p:nvSpPr>
          <p:cNvPr id="15" name="Text 8"/>
          <p:cNvSpPr/>
          <p:nvPr/>
        </p:nvSpPr>
        <p:spPr>
          <a:xfrm>
            <a:off x="285750" y="2895600"/>
            <a:ext cx="2276475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Selected Variant</a:t>
            </a:r>
            <a:endParaRPr lang="en-US" sz="1875" dirty="0"/>
          </a:p>
        </p:txBody>
      </p:sp>
      <p:sp>
        <p:nvSpPr>
          <p:cNvPr id="16" name="Text 9"/>
          <p:cNvSpPr/>
          <p:nvPr/>
        </p:nvSpPr>
        <p:spPr>
          <a:xfrm>
            <a:off x="4891446" y="3767138"/>
            <a:ext cx="306228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Upon selection selected state turns checkmark on 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4891446" y="2286000"/>
            <a:ext cx="328612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buy button; instead the card itself is the buy button 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3905609" y="1181100"/>
            <a:ext cx="30051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Displaying the details of the pass as an emphasis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776413"/>
            <a:ext cx="3183134" cy="1586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14906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4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14675" y="2428875"/>
            <a:ext cx="4662129" cy="4143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114675" y="2552700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81363" y="2428875"/>
            <a:ext cx="4504985" cy="414338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776413"/>
            <a:ext cx="3183134" cy="158600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363" y="2632802"/>
            <a:ext cx="947403" cy="100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5750" y="285750"/>
            <a:ext cx="14906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Concept 4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4324010" y="2428875"/>
            <a:ext cx="3919538" cy="414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is meant to display the nature of the pass; for example, having a beach front may insinuate tourism purposes or a long road may represent a longer subscription pass 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33475" y="1604963"/>
            <a:ext cx="7334250" cy="1933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Organization</a:t>
            </a:r>
            <a:endParaRPr lang="en-US" sz="6375" dirty="0"/>
          </a:p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&amp; Pass Names</a:t>
            </a:r>
            <a:endParaRPr lang="en-US" sz="63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719138"/>
            <a:ext cx="2109788" cy="187493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285750" y="2909888"/>
            <a:ext cx="2109788" cy="187493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438525" y="2909888"/>
            <a:ext cx="2262188" cy="187493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439734" y="714375"/>
            <a:ext cx="2109788" cy="187493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285750" y="285750"/>
            <a:ext cx="216217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Organization Names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439734" y="714375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Monthly Pass</a:t>
            </a:r>
            <a:endParaRPr lang="en-US" sz="1589" dirty="0"/>
          </a:p>
        </p:txBody>
      </p:sp>
      <p:sp>
        <p:nvSpPr>
          <p:cNvPr id="8" name="Text 6"/>
          <p:cNvSpPr/>
          <p:nvPr/>
        </p:nvSpPr>
        <p:spPr>
          <a:xfrm>
            <a:off x="3439734" y="1122386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Lite Monthly Pass</a:t>
            </a:r>
            <a:endParaRPr lang="en-US" sz="1589" dirty="0"/>
          </a:p>
        </p:txBody>
      </p:sp>
      <p:sp>
        <p:nvSpPr>
          <p:cNvPr id="9" name="Text 7"/>
          <p:cNvSpPr/>
          <p:nvPr/>
        </p:nvSpPr>
        <p:spPr>
          <a:xfrm>
            <a:off x="3439734" y="1530396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Minute Bundle Pass</a:t>
            </a:r>
            <a:endParaRPr lang="en-US" sz="1589" dirty="0"/>
          </a:p>
        </p:txBody>
      </p:sp>
      <p:sp>
        <p:nvSpPr>
          <p:cNvPr id="10" name="Text 8"/>
          <p:cNvSpPr/>
          <p:nvPr/>
        </p:nvSpPr>
        <p:spPr>
          <a:xfrm>
            <a:off x="3439734" y="1938407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 Minute Pass</a:t>
            </a:r>
            <a:endParaRPr lang="en-US" sz="1589" dirty="0"/>
          </a:p>
        </p:txBody>
      </p:sp>
      <p:sp>
        <p:nvSpPr>
          <p:cNvPr id="11" name="Text 9"/>
          <p:cNvSpPr/>
          <p:nvPr/>
        </p:nvSpPr>
        <p:spPr>
          <a:xfrm>
            <a:off x="3439734" y="2346417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 Pass</a:t>
            </a:r>
            <a:endParaRPr lang="en-US" sz="1589" dirty="0"/>
          </a:p>
        </p:txBody>
      </p:sp>
      <p:sp>
        <p:nvSpPr>
          <p:cNvPr id="12" name="Text 10"/>
          <p:cNvSpPr/>
          <p:nvPr/>
        </p:nvSpPr>
        <p:spPr>
          <a:xfrm>
            <a:off x="3438525" y="2909888"/>
            <a:ext cx="27193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 Monthly Pass</a:t>
            </a:r>
            <a:endParaRPr lang="en-US" sz="1589" dirty="0"/>
          </a:p>
        </p:txBody>
      </p:sp>
      <p:sp>
        <p:nvSpPr>
          <p:cNvPr id="13" name="Text 11"/>
          <p:cNvSpPr/>
          <p:nvPr/>
        </p:nvSpPr>
        <p:spPr>
          <a:xfrm>
            <a:off x="3438525" y="3317899"/>
            <a:ext cx="27193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Minute Monthly Pass</a:t>
            </a:r>
            <a:endParaRPr lang="en-US" sz="1589" dirty="0"/>
          </a:p>
        </p:txBody>
      </p:sp>
      <p:sp>
        <p:nvSpPr>
          <p:cNvPr id="14" name="Text 12"/>
          <p:cNvSpPr/>
          <p:nvPr/>
        </p:nvSpPr>
        <p:spPr>
          <a:xfrm>
            <a:off x="3438525" y="3725909"/>
            <a:ext cx="27193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Minute Bundle Pass</a:t>
            </a:r>
            <a:endParaRPr lang="en-US" sz="1589" dirty="0"/>
          </a:p>
        </p:txBody>
      </p:sp>
      <p:sp>
        <p:nvSpPr>
          <p:cNvPr id="15" name="Text 13"/>
          <p:cNvSpPr/>
          <p:nvPr/>
        </p:nvSpPr>
        <p:spPr>
          <a:xfrm>
            <a:off x="3438525" y="4133920"/>
            <a:ext cx="27193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 Minute Pass</a:t>
            </a:r>
            <a:endParaRPr lang="en-US" sz="1589" dirty="0"/>
          </a:p>
        </p:txBody>
      </p:sp>
      <p:sp>
        <p:nvSpPr>
          <p:cNvPr id="16" name="Text 14"/>
          <p:cNvSpPr/>
          <p:nvPr/>
        </p:nvSpPr>
        <p:spPr>
          <a:xfrm>
            <a:off x="3438525" y="4541930"/>
            <a:ext cx="27193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 Pass</a:t>
            </a:r>
            <a:endParaRPr lang="en-US" sz="1589" dirty="0"/>
          </a:p>
        </p:txBody>
      </p:sp>
      <p:sp>
        <p:nvSpPr>
          <p:cNvPr id="17" name="Text 15"/>
          <p:cNvSpPr/>
          <p:nvPr/>
        </p:nvSpPr>
        <p:spPr>
          <a:xfrm>
            <a:off x="285750" y="2909888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 Month Pass</a:t>
            </a:r>
            <a:endParaRPr lang="en-US" sz="1589" dirty="0"/>
          </a:p>
        </p:txBody>
      </p:sp>
      <p:sp>
        <p:nvSpPr>
          <p:cNvPr id="18" name="Text 16"/>
          <p:cNvSpPr/>
          <p:nvPr/>
        </p:nvSpPr>
        <p:spPr>
          <a:xfrm>
            <a:off x="285750" y="3317899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Minute Month Pass</a:t>
            </a:r>
            <a:endParaRPr lang="en-US" sz="1589" dirty="0"/>
          </a:p>
        </p:txBody>
      </p:sp>
      <p:sp>
        <p:nvSpPr>
          <p:cNvPr id="19" name="Text 17"/>
          <p:cNvSpPr/>
          <p:nvPr/>
        </p:nvSpPr>
        <p:spPr>
          <a:xfrm>
            <a:off x="285750" y="3725909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Minute Bundle Pass</a:t>
            </a:r>
            <a:endParaRPr lang="en-US" sz="1589" dirty="0"/>
          </a:p>
        </p:txBody>
      </p:sp>
      <p:sp>
        <p:nvSpPr>
          <p:cNvPr id="20" name="Text 18"/>
          <p:cNvSpPr/>
          <p:nvPr/>
        </p:nvSpPr>
        <p:spPr>
          <a:xfrm>
            <a:off x="285750" y="4133920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 Minute Pass</a:t>
            </a:r>
            <a:endParaRPr lang="en-US" sz="1589" dirty="0"/>
          </a:p>
        </p:txBody>
      </p:sp>
      <p:sp>
        <p:nvSpPr>
          <p:cNvPr id="21" name="Text 19"/>
          <p:cNvSpPr/>
          <p:nvPr/>
        </p:nvSpPr>
        <p:spPr>
          <a:xfrm>
            <a:off x="285750" y="4541930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 Pass</a:t>
            </a:r>
            <a:endParaRPr lang="en-US" sz="1589" dirty="0"/>
          </a:p>
        </p:txBody>
      </p:sp>
      <p:sp>
        <p:nvSpPr>
          <p:cNvPr id="22" name="Text 20"/>
          <p:cNvSpPr/>
          <p:nvPr/>
        </p:nvSpPr>
        <p:spPr>
          <a:xfrm>
            <a:off x="285750" y="719138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 Pass</a:t>
            </a:r>
            <a:endParaRPr lang="en-US" sz="1589" dirty="0"/>
          </a:p>
        </p:txBody>
      </p:sp>
      <p:sp>
        <p:nvSpPr>
          <p:cNvPr id="23" name="Text 21"/>
          <p:cNvSpPr/>
          <p:nvPr/>
        </p:nvSpPr>
        <p:spPr>
          <a:xfrm>
            <a:off x="285750" y="1127148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Lite Month Pass</a:t>
            </a:r>
            <a:endParaRPr lang="en-US" sz="1589" dirty="0"/>
          </a:p>
        </p:txBody>
      </p:sp>
      <p:sp>
        <p:nvSpPr>
          <p:cNvPr id="24" name="Text 22"/>
          <p:cNvSpPr/>
          <p:nvPr/>
        </p:nvSpPr>
        <p:spPr>
          <a:xfrm>
            <a:off x="285750" y="1535159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Minute Bundle Pass</a:t>
            </a:r>
            <a:endParaRPr lang="en-US" sz="1589" dirty="0"/>
          </a:p>
        </p:txBody>
      </p:sp>
      <p:sp>
        <p:nvSpPr>
          <p:cNvPr id="25" name="Text 23"/>
          <p:cNvSpPr/>
          <p:nvPr/>
        </p:nvSpPr>
        <p:spPr>
          <a:xfrm>
            <a:off x="285750" y="1943170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 Minute Pass</a:t>
            </a:r>
            <a:endParaRPr lang="en-US" sz="1589" dirty="0"/>
          </a:p>
        </p:txBody>
      </p:sp>
      <p:sp>
        <p:nvSpPr>
          <p:cNvPr id="26" name="Text 24"/>
          <p:cNvSpPr/>
          <p:nvPr/>
        </p:nvSpPr>
        <p:spPr>
          <a:xfrm>
            <a:off x="285750" y="2351180"/>
            <a:ext cx="2566988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96"/>
              </a:lnSpc>
              <a:buNone/>
            </a:pPr>
            <a:r>
              <a:rPr lang="en-US" sz="1589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 Pass</a:t>
            </a:r>
            <a:endParaRPr lang="en-US" sz="1589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05038" y="842963"/>
            <a:ext cx="4733925" cy="38481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038" y="842963"/>
            <a:ext cx="1905000" cy="38481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963" y="842963"/>
            <a:ext cx="1905000" cy="384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285750"/>
            <a:ext cx="241935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Organization Prototypes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05038" y="847725"/>
            <a:ext cx="4733925" cy="38481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038" y="847725"/>
            <a:ext cx="1905000" cy="38481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963" y="847725"/>
            <a:ext cx="1905000" cy="384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285750"/>
            <a:ext cx="313372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 Organization Prototypes Continued</a:t>
            </a:r>
            <a:endParaRPr lang="en-US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0538" y="1604963"/>
            <a:ext cx="8620125" cy="1933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 Information</a:t>
            </a:r>
            <a:endParaRPr lang="en-US" sz="6375" dirty="0"/>
          </a:p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&amp; Purchase Re-Design</a:t>
            </a:r>
            <a:endParaRPr lang="en-US" sz="63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5013" y="1228725"/>
            <a:ext cx="1785938" cy="33099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5372100" y="2033588"/>
            <a:ext cx="1785938" cy="1790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72100" y="2033588"/>
            <a:ext cx="1785938" cy="461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372100" y="2495550"/>
            <a:ext cx="1785938" cy="1347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67350" y="2543175"/>
            <a:ext cx="1595438" cy="1237754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5467350" y="2543175"/>
            <a:ext cx="1595438" cy="603275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467350" y="3222650"/>
            <a:ext cx="1595438" cy="118472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600700" y="3234261"/>
            <a:ext cx="914400" cy="952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467350" y="2543175"/>
            <a:ext cx="1595438" cy="61436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5467350" y="254317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5467350" y="271462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5467350" y="288607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5467350" y="305752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419850" y="3057525"/>
            <a:ext cx="642938" cy="100013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6419850" y="3057525"/>
            <a:ext cx="642938" cy="100013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5467350" y="2119313"/>
            <a:ext cx="1595438" cy="309563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5467350" y="2119313"/>
            <a:ext cx="1595438" cy="15240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5467350" y="2347913"/>
            <a:ext cx="1595438" cy="80963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5467350" y="2130434"/>
            <a:ext cx="1021734" cy="130157"/>
          </a:xfrm>
          <a:prstGeom prst="rect">
            <a:avLst/>
          </a:prstGeom>
          <a:noFill/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2909888"/>
            <a:ext cx="1785938" cy="147638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50" y="3417322"/>
            <a:ext cx="1595438" cy="249307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350" y="3234261"/>
            <a:ext cx="95250" cy="9525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388" y="2119313"/>
            <a:ext cx="152400" cy="15240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5013" y="1228725"/>
            <a:ext cx="2052637" cy="3400425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5013" y="4362450"/>
            <a:ext cx="1785938" cy="1619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85750" y="285750"/>
            <a:ext cx="231457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Overlay Re-Design</a:t>
            </a:r>
            <a:endParaRPr lang="en-US" sz="1125" dirty="0"/>
          </a:p>
        </p:txBody>
      </p:sp>
      <p:sp>
        <p:nvSpPr>
          <p:cNvPr id="28" name="Text 20"/>
          <p:cNvSpPr/>
          <p:nvPr/>
        </p:nvSpPr>
        <p:spPr>
          <a:xfrm>
            <a:off x="2709863" y="609600"/>
            <a:ext cx="8382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Old</a:t>
            </a:r>
            <a:endParaRPr lang="en-US" sz="1875" dirty="0"/>
          </a:p>
        </p:txBody>
      </p:sp>
      <p:sp>
        <p:nvSpPr>
          <p:cNvPr id="29" name="Text 21"/>
          <p:cNvSpPr/>
          <p:nvPr/>
        </p:nvSpPr>
        <p:spPr>
          <a:xfrm>
            <a:off x="6015038" y="609600"/>
            <a:ext cx="9572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</a:t>
            </a:r>
            <a:endParaRPr lang="en-US" sz="1875" dirty="0"/>
          </a:p>
        </p:txBody>
      </p:sp>
      <p:sp>
        <p:nvSpPr>
          <p:cNvPr id="30" name="Text 22"/>
          <p:cNvSpPr/>
          <p:nvPr/>
        </p:nvSpPr>
        <p:spPr>
          <a:xfrm>
            <a:off x="5600700" y="3234261"/>
            <a:ext cx="1371600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525" dirty="0">
                <a:solidFill>
                  <a:srgbClr val="59606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agree to </a:t>
            </a:r>
            <a:pPr algn="l" indent="0" marL="0">
              <a:lnSpc>
                <a:spcPts val="750"/>
              </a:lnSpc>
              <a:buNone/>
            </a:pPr>
            <a:r>
              <a:rPr lang="en-US" sz="525" dirty="0">
                <a:solidFill>
                  <a:srgbClr val="26C86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GCOO Product T&amp;Cs</a:t>
            </a:r>
            <a:endParaRPr lang="en-US" sz="525" dirty="0"/>
          </a:p>
        </p:txBody>
      </p:sp>
      <p:sp>
        <p:nvSpPr>
          <p:cNvPr id="31" name="Text 23"/>
          <p:cNvSpPr/>
          <p:nvPr/>
        </p:nvSpPr>
        <p:spPr>
          <a:xfrm>
            <a:off x="5467350" y="3057525"/>
            <a:ext cx="105727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 Amount</a:t>
            </a:r>
            <a:endParaRPr lang="en-US" sz="600" dirty="0"/>
          </a:p>
        </p:txBody>
      </p:sp>
      <p:sp>
        <p:nvSpPr>
          <p:cNvPr id="32" name="Text 24"/>
          <p:cNvSpPr/>
          <p:nvPr/>
        </p:nvSpPr>
        <p:spPr>
          <a:xfrm>
            <a:off x="6419850" y="3057525"/>
            <a:ext cx="11001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b="1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₩10,000/30 days</a:t>
            </a:r>
            <a:endParaRPr lang="en-US" sz="600" dirty="0"/>
          </a:p>
        </p:txBody>
      </p:sp>
      <p:sp>
        <p:nvSpPr>
          <p:cNvPr id="33" name="Text 25"/>
          <p:cNvSpPr/>
          <p:nvPr/>
        </p:nvSpPr>
        <p:spPr>
          <a:xfrm>
            <a:off x="5467350" y="2886075"/>
            <a:ext cx="105251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 Method</a:t>
            </a:r>
            <a:endParaRPr lang="en-US" sz="600" dirty="0"/>
          </a:p>
        </p:txBody>
      </p:sp>
      <p:sp>
        <p:nvSpPr>
          <p:cNvPr id="34" name="Text 26"/>
          <p:cNvSpPr/>
          <p:nvPr/>
        </p:nvSpPr>
        <p:spPr>
          <a:xfrm>
            <a:off x="6672263" y="2886075"/>
            <a:ext cx="8477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Mastercard</a:t>
            </a:r>
            <a:endParaRPr lang="en-US" sz="600" dirty="0"/>
          </a:p>
        </p:txBody>
      </p:sp>
      <p:sp>
        <p:nvSpPr>
          <p:cNvPr id="35" name="Text 27"/>
          <p:cNvSpPr/>
          <p:nvPr/>
        </p:nvSpPr>
        <p:spPr>
          <a:xfrm>
            <a:off x="5467350" y="2714625"/>
            <a:ext cx="80486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Expiration</a:t>
            </a:r>
            <a:endParaRPr lang="en-US" sz="600" dirty="0"/>
          </a:p>
        </p:txBody>
      </p:sp>
      <p:sp>
        <p:nvSpPr>
          <p:cNvPr id="36" name="Text 28"/>
          <p:cNvSpPr/>
          <p:nvPr/>
        </p:nvSpPr>
        <p:spPr>
          <a:xfrm>
            <a:off x="6124575" y="2721769"/>
            <a:ext cx="13954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June 5, 2024 ~ Termination</a:t>
            </a:r>
            <a:endParaRPr lang="en-US" sz="600" dirty="0"/>
          </a:p>
        </p:txBody>
      </p:sp>
      <p:sp>
        <p:nvSpPr>
          <p:cNvPr id="37" name="Text 29"/>
          <p:cNvSpPr/>
          <p:nvPr/>
        </p:nvSpPr>
        <p:spPr>
          <a:xfrm>
            <a:off x="5467350" y="2543175"/>
            <a:ext cx="1128713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Device Restrictions</a:t>
            </a:r>
            <a:endParaRPr lang="en-US" sz="600" dirty="0"/>
          </a:p>
        </p:txBody>
      </p:sp>
      <p:sp>
        <p:nvSpPr>
          <p:cNvPr id="38" name="Text 30"/>
          <p:cNvSpPr/>
          <p:nvPr/>
        </p:nvSpPr>
        <p:spPr>
          <a:xfrm>
            <a:off x="6424613" y="2550319"/>
            <a:ext cx="109537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Electric Kick board</a:t>
            </a:r>
            <a:endParaRPr lang="en-US" sz="600" dirty="0"/>
          </a:p>
        </p:txBody>
      </p:sp>
      <p:sp>
        <p:nvSpPr>
          <p:cNvPr id="39" name="Text 31"/>
          <p:cNvSpPr/>
          <p:nvPr/>
        </p:nvSpPr>
        <p:spPr>
          <a:xfrm>
            <a:off x="5467350" y="2347913"/>
            <a:ext cx="177165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525" dirty="0">
                <a:solidFill>
                  <a:srgbClr val="B8B8B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Available for 30 minutes per day for 30 days</a:t>
            </a:r>
            <a:endParaRPr lang="en-US" sz="525" dirty="0"/>
          </a:p>
        </p:txBody>
      </p:sp>
      <p:sp>
        <p:nvSpPr>
          <p:cNvPr id="40" name="Text 32"/>
          <p:cNvSpPr/>
          <p:nvPr/>
        </p:nvSpPr>
        <p:spPr>
          <a:xfrm>
            <a:off x="5467350" y="2130434"/>
            <a:ext cx="1478934" cy="130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 Pass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6650" y="2033588"/>
            <a:ext cx="1785938" cy="1790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76650" y="2033588"/>
            <a:ext cx="1785938" cy="461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676650" y="2495550"/>
            <a:ext cx="1785938" cy="1347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771900" y="2543175"/>
            <a:ext cx="1595438" cy="1237754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771900" y="2543175"/>
            <a:ext cx="1595438" cy="60327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771900" y="3222650"/>
            <a:ext cx="1595438" cy="118472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905250" y="3234261"/>
            <a:ext cx="914400" cy="952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771900" y="2543175"/>
            <a:ext cx="1595438" cy="61436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771900" y="254317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771900" y="271462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771900" y="288607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3771900" y="305752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724400" y="3057525"/>
            <a:ext cx="642938" cy="10001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4724400" y="3057525"/>
            <a:ext cx="642938" cy="100013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3771900" y="2119313"/>
            <a:ext cx="1595438" cy="309563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771900" y="2119313"/>
            <a:ext cx="1595438" cy="1524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771900" y="2347913"/>
            <a:ext cx="1595438" cy="80963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771900" y="2130434"/>
            <a:ext cx="1021734" cy="130157"/>
          </a:xfrm>
          <a:prstGeom prst="rect">
            <a:avLst/>
          </a:prstGeom>
          <a:noFill/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6650" y="2909888"/>
            <a:ext cx="1785938" cy="14763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3417322"/>
            <a:ext cx="1595438" cy="249307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3234261"/>
            <a:ext cx="95250" cy="9525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8" y="2119313"/>
            <a:ext cx="152400" cy="152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85750" y="285750"/>
            <a:ext cx="231457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Overlay Re-Design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4319588" y="609600"/>
            <a:ext cx="9572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</a:t>
            </a:r>
            <a:endParaRPr lang="en-US" sz="1875" dirty="0"/>
          </a:p>
        </p:txBody>
      </p:sp>
      <p:sp>
        <p:nvSpPr>
          <p:cNvPr id="26" name="Text 20"/>
          <p:cNvSpPr/>
          <p:nvPr/>
        </p:nvSpPr>
        <p:spPr>
          <a:xfrm>
            <a:off x="3905250" y="3234261"/>
            <a:ext cx="1371600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525" dirty="0">
                <a:solidFill>
                  <a:srgbClr val="59606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agree to </a:t>
            </a:r>
            <a:pPr algn="l" indent="0" marL="0">
              <a:lnSpc>
                <a:spcPts val="750"/>
              </a:lnSpc>
              <a:buNone/>
            </a:pPr>
            <a:r>
              <a:rPr lang="en-US" sz="525" dirty="0">
                <a:solidFill>
                  <a:srgbClr val="26C86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GCOO Product T&amp;Cs</a:t>
            </a:r>
            <a:endParaRPr lang="en-US" sz="525" dirty="0"/>
          </a:p>
        </p:txBody>
      </p:sp>
      <p:sp>
        <p:nvSpPr>
          <p:cNvPr id="27" name="Text 21"/>
          <p:cNvSpPr/>
          <p:nvPr/>
        </p:nvSpPr>
        <p:spPr>
          <a:xfrm>
            <a:off x="3771900" y="3057525"/>
            <a:ext cx="105727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 Amount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4724400" y="3057525"/>
            <a:ext cx="11001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b="1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₩10,000/30 days</a:t>
            </a:r>
            <a:endParaRPr lang="en-US" sz="600" dirty="0"/>
          </a:p>
        </p:txBody>
      </p:sp>
      <p:sp>
        <p:nvSpPr>
          <p:cNvPr id="29" name="Text 23"/>
          <p:cNvSpPr/>
          <p:nvPr/>
        </p:nvSpPr>
        <p:spPr>
          <a:xfrm>
            <a:off x="3771900" y="2886075"/>
            <a:ext cx="105251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 Method</a:t>
            </a:r>
            <a:endParaRPr lang="en-US" sz="600" dirty="0"/>
          </a:p>
        </p:txBody>
      </p:sp>
      <p:sp>
        <p:nvSpPr>
          <p:cNvPr id="30" name="Text 24"/>
          <p:cNvSpPr/>
          <p:nvPr/>
        </p:nvSpPr>
        <p:spPr>
          <a:xfrm>
            <a:off x="4976813" y="2886075"/>
            <a:ext cx="8477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Mastercard</a:t>
            </a:r>
            <a:endParaRPr lang="en-US" sz="600" dirty="0"/>
          </a:p>
        </p:txBody>
      </p:sp>
      <p:sp>
        <p:nvSpPr>
          <p:cNvPr id="31" name="Text 25"/>
          <p:cNvSpPr/>
          <p:nvPr/>
        </p:nvSpPr>
        <p:spPr>
          <a:xfrm>
            <a:off x="3771900" y="2714625"/>
            <a:ext cx="80486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Expiration</a:t>
            </a:r>
            <a:endParaRPr lang="en-US" sz="600" dirty="0"/>
          </a:p>
        </p:txBody>
      </p:sp>
      <p:sp>
        <p:nvSpPr>
          <p:cNvPr id="32" name="Text 26"/>
          <p:cNvSpPr/>
          <p:nvPr/>
        </p:nvSpPr>
        <p:spPr>
          <a:xfrm>
            <a:off x="4429125" y="2721769"/>
            <a:ext cx="13954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June 5, 2024 ~ Termination</a:t>
            </a:r>
            <a:endParaRPr lang="en-US" sz="600" dirty="0"/>
          </a:p>
        </p:txBody>
      </p:sp>
      <p:sp>
        <p:nvSpPr>
          <p:cNvPr id="33" name="Text 27"/>
          <p:cNvSpPr/>
          <p:nvPr/>
        </p:nvSpPr>
        <p:spPr>
          <a:xfrm>
            <a:off x="3771900" y="2543175"/>
            <a:ext cx="1128713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Device Restrictions</a:t>
            </a:r>
            <a:endParaRPr lang="en-US" sz="600" dirty="0"/>
          </a:p>
        </p:txBody>
      </p:sp>
      <p:sp>
        <p:nvSpPr>
          <p:cNvPr id="34" name="Text 28"/>
          <p:cNvSpPr/>
          <p:nvPr/>
        </p:nvSpPr>
        <p:spPr>
          <a:xfrm>
            <a:off x="4729163" y="2550319"/>
            <a:ext cx="109537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Electric Kick board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3771900" y="2347913"/>
            <a:ext cx="177165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525" dirty="0">
                <a:solidFill>
                  <a:srgbClr val="B8B8B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Available for 30 minutes per day for 30 days</a:t>
            </a:r>
            <a:endParaRPr lang="en-US" sz="525" dirty="0"/>
          </a:p>
        </p:txBody>
      </p:sp>
      <p:sp>
        <p:nvSpPr>
          <p:cNvPr id="36" name="Text 30"/>
          <p:cNvSpPr/>
          <p:nvPr/>
        </p:nvSpPr>
        <p:spPr>
          <a:xfrm>
            <a:off x="3771900" y="2130434"/>
            <a:ext cx="1478934" cy="130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 Pass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6650" y="2033588"/>
            <a:ext cx="1785938" cy="1790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66700" y="3457575"/>
            <a:ext cx="3468434" cy="16668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568443" y="34575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5" name="Shape 3"/>
          <p:cNvSpPr/>
          <p:nvPr/>
        </p:nvSpPr>
        <p:spPr>
          <a:xfrm>
            <a:off x="5367338" y="22764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6" name="Shape 4"/>
          <p:cNvSpPr/>
          <p:nvPr/>
        </p:nvSpPr>
        <p:spPr>
          <a:xfrm>
            <a:off x="5524481" y="2286000"/>
            <a:ext cx="3296013" cy="13811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676650" y="2033588"/>
            <a:ext cx="1785938" cy="4619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676650" y="2495550"/>
            <a:ext cx="1785938" cy="1347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771900" y="2543175"/>
            <a:ext cx="1595438" cy="1237754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771900" y="2543175"/>
            <a:ext cx="1595438" cy="6032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771900" y="3222650"/>
            <a:ext cx="1595438" cy="118472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905250" y="3234261"/>
            <a:ext cx="914400" cy="9525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3771900" y="2543175"/>
            <a:ext cx="1595438" cy="614363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771900" y="254317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771900" y="271462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3771900" y="288607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771900" y="3057525"/>
            <a:ext cx="1595438" cy="100013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724400" y="3057525"/>
            <a:ext cx="642938" cy="100013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724400" y="3057525"/>
            <a:ext cx="642938" cy="100013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3771900" y="2119313"/>
            <a:ext cx="1595438" cy="309563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771900" y="2119313"/>
            <a:ext cx="1595438" cy="15240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3771900" y="2347913"/>
            <a:ext cx="1595438" cy="80963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3771900" y="2130434"/>
            <a:ext cx="1021734" cy="130157"/>
          </a:xfrm>
          <a:prstGeom prst="rect">
            <a:avLst/>
          </a:prstGeom>
          <a:noFill/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547" y="3541033"/>
            <a:ext cx="701436" cy="9525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1" y="2352552"/>
            <a:ext cx="471887" cy="11052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2909888"/>
            <a:ext cx="1785938" cy="147638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3417322"/>
            <a:ext cx="1595438" cy="249307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3234261"/>
            <a:ext cx="95250" cy="9525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938" y="2119313"/>
            <a:ext cx="152400" cy="1524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85750" y="285750"/>
            <a:ext cx="231457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Overlay Re-Design</a:t>
            </a:r>
            <a:endParaRPr lang="en-US" sz="1125" dirty="0"/>
          </a:p>
        </p:txBody>
      </p:sp>
      <p:sp>
        <p:nvSpPr>
          <p:cNvPr id="31" name="Text 23"/>
          <p:cNvSpPr/>
          <p:nvPr/>
        </p:nvSpPr>
        <p:spPr>
          <a:xfrm>
            <a:off x="4319588" y="609600"/>
            <a:ext cx="9572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</a:t>
            </a:r>
            <a:endParaRPr lang="en-US" sz="1875" dirty="0"/>
          </a:p>
        </p:txBody>
      </p:sp>
      <p:sp>
        <p:nvSpPr>
          <p:cNvPr id="32" name="Text 24"/>
          <p:cNvSpPr/>
          <p:nvPr/>
        </p:nvSpPr>
        <p:spPr>
          <a:xfrm>
            <a:off x="266700" y="3471863"/>
            <a:ext cx="2957513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 on the buy button to catch user attention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6091582" y="2286000"/>
            <a:ext cx="3186113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cuts out the repetitive parts of the old design 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3905250" y="3234261"/>
            <a:ext cx="1371600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525" dirty="0">
                <a:solidFill>
                  <a:srgbClr val="59606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 agree to </a:t>
            </a:r>
            <a:pPr algn="l" indent="0" marL="0">
              <a:lnSpc>
                <a:spcPts val="750"/>
              </a:lnSpc>
              <a:buNone/>
            </a:pPr>
            <a:r>
              <a:rPr lang="en-US" sz="525" dirty="0">
                <a:solidFill>
                  <a:srgbClr val="26C86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GCOO Product T&amp;Cs</a:t>
            </a:r>
            <a:endParaRPr lang="en-US" sz="525" dirty="0"/>
          </a:p>
        </p:txBody>
      </p:sp>
      <p:sp>
        <p:nvSpPr>
          <p:cNvPr id="35" name="Text 27"/>
          <p:cNvSpPr/>
          <p:nvPr/>
        </p:nvSpPr>
        <p:spPr>
          <a:xfrm>
            <a:off x="3771900" y="3057525"/>
            <a:ext cx="105727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 Amount</a:t>
            </a:r>
            <a:endParaRPr lang="en-US" sz="600" dirty="0"/>
          </a:p>
        </p:txBody>
      </p:sp>
      <p:sp>
        <p:nvSpPr>
          <p:cNvPr id="36" name="Text 28"/>
          <p:cNvSpPr/>
          <p:nvPr/>
        </p:nvSpPr>
        <p:spPr>
          <a:xfrm>
            <a:off x="4724400" y="3057525"/>
            <a:ext cx="11001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b="1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₩10,000/30 days</a:t>
            </a:r>
            <a:endParaRPr lang="en-US" sz="600" dirty="0"/>
          </a:p>
        </p:txBody>
      </p:sp>
      <p:sp>
        <p:nvSpPr>
          <p:cNvPr id="37" name="Text 29"/>
          <p:cNvSpPr/>
          <p:nvPr/>
        </p:nvSpPr>
        <p:spPr>
          <a:xfrm>
            <a:off x="3771900" y="2886075"/>
            <a:ext cx="105251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 Method</a:t>
            </a:r>
            <a:endParaRPr lang="en-US" sz="600" dirty="0"/>
          </a:p>
        </p:txBody>
      </p:sp>
      <p:sp>
        <p:nvSpPr>
          <p:cNvPr id="38" name="Text 30"/>
          <p:cNvSpPr/>
          <p:nvPr/>
        </p:nvSpPr>
        <p:spPr>
          <a:xfrm>
            <a:off x="4976813" y="2886075"/>
            <a:ext cx="847725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Mastercard</a:t>
            </a:r>
            <a:endParaRPr lang="en-US" sz="600" dirty="0"/>
          </a:p>
        </p:txBody>
      </p:sp>
      <p:sp>
        <p:nvSpPr>
          <p:cNvPr id="39" name="Text 31"/>
          <p:cNvSpPr/>
          <p:nvPr/>
        </p:nvSpPr>
        <p:spPr>
          <a:xfrm>
            <a:off x="3771900" y="2714625"/>
            <a:ext cx="804862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Expiration</a:t>
            </a:r>
            <a:endParaRPr lang="en-US" sz="600" dirty="0"/>
          </a:p>
        </p:txBody>
      </p:sp>
      <p:sp>
        <p:nvSpPr>
          <p:cNvPr id="40" name="Text 32"/>
          <p:cNvSpPr/>
          <p:nvPr/>
        </p:nvSpPr>
        <p:spPr>
          <a:xfrm>
            <a:off x="4429125" y="2721769"/>
            <a:ext cx="139541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June 5, 2024 ~ Termination</a:t>
            </a:r>
            <a:endParaRPr lang="en-US" sz="600" dirty="0"/>
          </a:p>
        </p:txBody>
      </p:sp>
      <p:sp>
        <p:nvSpPr>
          <p:cNvPr id="41" name="Text 33"/>
          <p:cNvSpPr/>
          <p:nvPr/>
        </p:nvSpPr>
        <p:spPr>
          <a:xfrm>
            <a:off x="3771900" y="2543175"/>
            <a:ext cx="1128713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Device Restrictions</a:t>
            </a:r>
            <a:endParaRPr lang="en-US" sz="600" dirty="0"/>
          </a:p>
        </p:txBody>
      </p:sp>
      <p:sp>
        <p:nvSpPr>
          <p:cNvPr id="42" name="Text 34"/>
          <p:cNvSpPr/>
          <p:nvPr/>
        </p:nvSpPr>
        <p:spPr>
          <a:xfrm>
            <a:off x="4729163" y="2550319"/>
            <a:ext cx="109537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60"/>
              </a:lnSpc>
              <a:buNone/>
            </a:pPr>
            <a:r>
              <a:rPr lang="en-US" sz="600" dirty="0">
                <a:solidFill>
                  <a:srgbClr val="22292D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Electric Kick board</a:t>
            </a:r>
            <a:endParaRPr lang="en-US" sz="600" dirty="0"/>
          </a:p>
        </p:txBody>
      </p:sp>
      <p:sp>
        <p:nvSpPr>
          <p:cNvPr id="43" name="Text 35"/>
          <p:cNvSpPr/>
          <p:nvPr/>
        </p:nvSpPr>
        <p:spPr>
          <a:xfrm>
            <a:off x="3771900" y="2347913"/>
            <a:ext cx="1771650" cy="80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27"/>
              </a:lnSpc>
              <a:buNone/>
            </a:pPr>
            <a:r>
              <a:rPr lang="en-US" sz="525" dirty="0">
                <a:solidFill>
                  <a:srgbClr val="B8B8B8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Available for 30 minutes per day for 30 days</a:t>
            </a:r>
            <a:endParaRPr lang="en-US" sz="525" dirty="0"/>
          </a:p>
        </p:txBody>
      </p:sp>
      <p:sp>
        <p:nvSpPr>
          <p:cNvPr id="44" name="Text 36"/>
          <p:cNvSpPr/>
          <p:nvPr/>
        </p:nvSpPr>
        <p:spPr>
          <a:xfrm>
            <a:off x="3771900" y="2130434"/>
            <a:ext cx="1478934" cy="130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 Pass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72100" y="1414463"/>
            <a:ext cx="1785938" cy="2647950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72100" y="1747838"/>
            <a:ext cx="1785938" cy="2314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372100" y="1414463"/>
            <a:ext cx="1785938" cy="333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67350" y="1485900"/>
            <a:ext cx="1595438" cy="1905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372100" y="1747838"/>
            <a:ext cx="1785938" cy="0"/>
          </a:xfrm>
          <a:prstGeom prst="line">
            <a:avLst/>
          </a:prstGeom>
          <a:noFill/>
          <a:ln w="12700">
            <a:solidFill>
              <a:srgbClr val="EC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67350" y="1747838"/>
            <a:ext cx="1595438" cy="364331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5467350" y="1781175"/>
            <a:ext cx="1538288" cy="542925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5467350" y="2395538"/>
            <a:ext cx="1538288" cy="160496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467350" y="4071938"/>
            <a:ext cx="1538288" cy="1176338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5467350" y="1781175"/>
            <a:ext cx="1538288" cy="152400"/>
          </a:xfrm>
          <a:prstGeom prst="rect">
            <a:avLst/>
          </a:prstGeom>
          <a:noFill/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313" y="1081088"/>
            <a:ext cx="1595438" cy="3952875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288" y="1485900"/>
            <a:ext cx="190500" cy="1905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238" y="1781175"/>
            <a:ext cx="152400" cy="152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5750" y="285750"/>
            <a:ext cx="2290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 Information Re-Design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2709863" y="609600"/>
            <a:ext cx="8382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Old</a:t>
            </a:r>
            <a:endParaRPr lang="en-US" sz="1875" dirty="0"/>
          </a:p>
        </p:txBody>
      </p:sp>
      <p:sp>
        <p:nvSpPr>
          <p:cNvPr id="17" name="Text 12"/>
          <p:cNvSpPr/>
          <p:nvPr/>
        </p:nvSpPr>
        <p:spPr>
          <a:xfrm>
            <a:off x="6015038" y="609600"/>
            <a:ext cx="9572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</a:t>
            </a:r>
            <a:endParaRPr lang="en-US" sz="1875" dirty="0"/>
          </a:p>
        </p:txBody>
      </p:sp>
      <p:sp>
        <p:nvSpPr>
          <p:cNvPr id="18" name="Text 13"/>
          <p:cNvSpPr/>
          <p:nvPr/>
        </p:nvSpPr>
        <p:spPr>
          <a:xfrm>
            <a:off x="5467350" y="1512094"/>
            <a:ext cx="14811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467350" y="4071938"/>
            <a:ext cx="19954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 Information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5467350" y="4219575"/>
            <a:ext cx="1995488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If the time pass expires during your ride, the regular fare selected before the ride will apply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Regular fares charged after the time pass expires cannot be discounted (e.g., tier discounts, promotional coupons, welfare rate plans, etc.)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If you finish your ride outside the service area (in shaded areas on the app map) while using the time pass, the return fee will be charged at the regular rate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However, if you return the same device that was returned outside the service area and re-ride it back to the service area, and then contact customer service, the return fee will be refunded</a:t>
            </a:r>
            <a:endParaRPr lang="en-US" sz="525" dirty="0"/>
          </a:p>
        </p:txBody>
      </p:sp>
      <p:sp>
        <p:nvSpPr>
          <p:cNvPr id="21" name="Text 16"/>
          <p:cNvSpPr/>
          <p:nvPr/>
        </p:nvSpPr>
        <p:spPr>
          <a:xfrm>
            <a:off x="5467350" y="2395538"/>
            <a:ext cx="19954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 Information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5467350" y="2543175"/>
            <a:ext cx="1995488" cy="1457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This time pass can be renewed once a day for 30 days from the date of purchase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renewed time pass allows you to freely divide the available time of 30 minutes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Example: After applying the daily 30-minute pass and starting the ride → If you finish after riding for 20 minutes, you will have 10 minutes remaining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available usage times for this time pass are from 00:00 to 04:00 and from 05:00 to 24:00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You can start your ride while the time pass is active during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Coupons will not be displayed when starting a ride outside of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There is no limit to the number of rides during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Cross-riding between electric scooters and e-bikes is allowed while using the time pass</a:t>
            </a:r>
            <a:endParaRPr lang="en-US" sz="525" dirty="0"/>
          </a:p>
        </p:txBody>
      </p:sp>
      <p:sp>
        <p:nvSpPr>
          <p:cNvPr id="23" name="Text 18"/>
          <p:cNvSpPr/>
          <p:nvPr/>
        </p:nvSpPr>
        <p:spPr>
          <a:xfrm>
            <a:off x="5467350" y="1981200"/>
            <a:ext cx="199548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validity period of this time pass is 30 days from the date of purchase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time pass will automatically expire after the validity period if not used</a:t>
            </a:r>
            <a:endParaRPr lang="en-US" sz="525" dirty="0"/>
          </a:p>
        </p:txBody>
      </p:sp>
      <p:sp>
        <p:nvSpPr>
          <p:cNvPr id="24" name="Text 19"/>
          <p:cNvSpPr/>
          <p:nvPr/>
        </p:nvSpPr>
        <p:spPr>
          <a:xfrm>
            <a:off x="5467350" y="1807369"/>
            <a:ext cx="13287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Validity Period Information</a:t>
            </a:r>
            <a:endParaRPr lang="en-US" sz="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6650" y="1414463"/>
            <a:ext cx="1785938" cy="2647950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76650" y="1747838"/>
            <a:ext cx="1785938" cy="2314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676650" y="1414463"/>
            <a:ext cx="1785938" cy="333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771900" y="1485900"/>
            <a:ext cx="1595438" cy="1905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676650" y="1747838"/>
            <a:ext cx="1785938" cy="0"/>
          </a:xfrm>
          <a:prstGeom prst="line">
            <a:avLst/>
          </a:prstGeom>
          <a:noFill/>
          <a:ln w="12700">
            <a:solidFill>
              <a:srgbClr val="EC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71900" y="1747838"/>
            <a:ext cx="1595438" cy="3643313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771900" y="1781175"/>
            <a:ext cx="1538288" cy="542925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771900" y="2395538"/>
            <a:ext cx="1538288" cy="1604963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771900" y="4071938"/>
            <a:ext cx="1538288" cy="1176338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771900" y="1781175"/>
            <a:ext cx="1538288" cy="152400"/>
          </a:xfrm>
          <a:prstGeom prst="rect">
            <a:avLst/>
          </a:prstGeom>
          <a:noFill/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838" y="1485900"/>
            <a:ext cx="190500" cy="1905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88" y="1781175"/>
            <a:ext cx="1524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5750" y="285750"/>
            <a:ext cx="2290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 Information Re-Design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4319588" y="609600"/>
            <a:ext cx="9572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</a:t>
            </a:r>
            <a:endParaRPr lang="en-US" sz="1875" dirty="0"/>
          </a:p>
        </p:txBody>
      </p:sp>
      <p:sp>
        <p:nvSpPr>
          <p:cNvPr id="16" name="Text 12"/>
          <p:cNvSpPr/>
          <p:nvPr/>
        </p:nvSpPr>
        <p:spPr>
          <a:xfrm>
            <a:off x="3771900" y="1512094"/>
            <a:ext cx="14811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771900" y="4071938"/>
            <a:ext cx="19954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 Information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3771900" y="4219575"/>
            <a:ext cx="1995488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If the time pass expires during your ride, the regular fare selected before the ride will apply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Regular fares charged after the time pass expires cannot be discounted (e.g., tier discounts, promotional coupons, welfare rate plans, etc.)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If you finish your ride outside the service area (in shaded areas on the app map) while using the time pass, the return fee will be charged at the regular rate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However, if you return the same device that was returned outside the service area and re-ride it back to the service area, and then contact customer service, the return fee will be refunded</a:t>
            </a:r>
            <a:endParaRPr lang="en-US" sz="525" dirty="0"/>
          </a:p>
        </p:txBody>
      </p:sp>
      <p:sp>
        <p:nvSpPr>
          <p:cNvPr id="19" name="Text 15"/>
          <p:cNvSpPr/>
          <p:nvPr/>
        </p:nvSpPr>
        <p:spPr>
          <a:xfrm>
            <a:off x="3771900" y="2395538"/>
            <a:ext cx="19954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 Information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3771900" y="2543175"/>
            <a:ext cx="1995488" cy="1457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This time pass can be renewed once a day for 30 days from the date of purchase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renewed time pass allows you to freely divide the available time of 30 minutes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Example: After applying the daily 30-minute pass and starting the ride → If you finish after riding for 20 minutes, you will have 10 minutes remaining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available usage times for this time pass are from 00:00 to 04:00 and from 05:00 to 24:00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You can start your ride while the time pass is active during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Coupons will not be displayed when starting a ride outside of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There is no limit to the number of rides during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Cross-riding between electric scooters and e-bikes is allowed while using the time pass</a:t>
            </a:r>
            <a:endParaRPr lang="en-US" sz="525" dirty="0"/>
          </a:p>
        </p:txBody>
      </p:sp>
      <p:sp>
        <p:nvSpPr>
          <p:cNvPr id="21" name="Text 17"/>
          <p:cNvSpPr/>
          <p:nvPr/>
        </p:nvSpPr>
        <p:spPr>
          <a:xfrm>
            <a:off x="3771900" y="1981200"/>
            <a:ext cx="199548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validity period of this time pass is 30 days from the date of purchase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time pass will automatically expire after the validity period if not used</a:t>
            </a:r>
            <a:endParaRPr lang="en-US" sz="525" dirty="0"/>
          </a:p>
        </p:txBody>
      </p:sp>
      <p:sp>
        <p:nvSpPr>
          <p:cNvPr id="22" name="Text 18"/>
          <p:cNvSpPr/>
          <p:nvPr/>
        </p:nvSpPr>
        <p:spPr>
          <a:xfrm>
            <a:off x="3771900" y="1807369"/>
            <a:ext cx="13287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Validity Period Information</a:t>
            </a:r>
            <a:endParaRPr lang="en-US" sz="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6650" y="1414463"/>
            <a:ext cx="1785938" cy="2647950"/>
          </a:xfrm>
          <a:prstGeom prst="roundRect">
            <a:avLst>
              <a:gd name="adj" fmla="val 6144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9587" y="3457575"/>
            <a:ext cx="3244596" cy="16668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587493" y="34575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5" name="Shape 3"/>
          <p:cNvSpPr/>
          <p:nvPr/>
        </p:nvSpPr>
        <p:spPr>
          <a:xfrm>
            <a:off x="5367338" y="2047875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6" name="Shape 4"/>
          <p:cNvSpPr/>
          <p:nvPr/>
        </p:nvSpPr>
        <p:spPr>
          <a:xfrm>
            <a:off x="5524481" y="2057400"/>
            <a:ext cx="3476988" cy="138113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676650" y="1747838"/>
            <a:ext cx="1785938" cy="2314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676650" y="1414463"/>
            <a:ext cx="1785938" cy="333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771900" y="1485900"/>
            <a:ext cx="1595438" cy="19050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676650" y="1747838"/>
            <a:ext cx="1785938" cy="0"/>
          </a:xfrm>
          <a:prstGeom prst="line">
            <a:avLst/>
          </a:prstGeom>
          <a:noFill/>
          <a:ln w="12700">
            <a:solidFill>
              <a:srgbClr val="ECEC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1900" y="1747838"/>
            <a:ext cx="1595438" cy="364331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771900" y="1781175"/>
            <a:ext cx="1538288" cy="542925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3771900" y="2395538"/>
            <a:ext cx="1538288" cy="1604963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771900" y="4071938"/>
            <a:ext cx="1538288" cy="1176338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771900" y="1781175"/>
            <a:ext cx="1538288" cy="152400"/>
          </a:xfrm>
          <a:prstGeom prst="rect">
            <a:avLst/>
          </a:prstGeom>
          <a:noFill/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597" y="3541033"/>
            <a:ext cx="701436" cy="9525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81" y="2123952"/>
            <a:ext cx="471887" cy="1105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838" y="1485900"/>
            <a:ext cx="190500" cy="1905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1781175"/>
            <a:ext cx="152400" cy="152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85750" y="285750"/>
            <a:ext cx="2290763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Extra Information Re-Design</a:t>
            </a: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4319588" y="609600"/>
            <a:ext cx="957263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38"/>
              </a:lnSpc>
              <a:buNone/>
            </a:pPr>
            <a:r>
              <a:rPr lang="en-US" sz="1875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</a:t>
            </a:r>
            <a:endParaRPr lang="en-US" sz="1875" dirty="0"/>
          </a:p>
        </p:txBody>
      </p:sp>
      <p:sp>
        <p:nvSpPr>
          <p:cNvPr id="22" name="Text 16"/>
          <p:cNvSpPr/>
          <p:nvPr/>
        </p:nvSpPr>
        <p:spPr>
          <a:xfrm>
            <a:off x="509587" y="3471863"/>
            <a:ext cx="273367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spc="-18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Overlay instead of a dropdown for consistency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091582" y="2057400"/>
            <a:ext cx="336708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Stronger hierarchy of information through color and size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771900" y="1512094"/>
            <a:ext cx="1481138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771900" y="4071938"/>
            <a:ext cx="19954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 Information</a:t>
            </a:r>
            <a:endParaRPr lang="en-US" sz="600" dirty="0"/>
          </a:p>
        </p:txBody>
      </p:sp>
      <p:sp>
        <p:nvSpPr>
          <p:cNvPr id="26" name="Text 20"/>
          <p:cNvSpPr/>
          <p:nvPr/>
        </p:nvSpPr>
        <p:spPr>
          <a:xfrm>
            <a:off x="3771900" y="4219575"/>
            <a:ext cx="1995488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If the time pass expires during your ride, the regular fare selected before the ride will apply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Regular fares charged after the time pass expires cannot be discounted (e.g., tier discounts, promotional coupons, welfare rate plans, etc.)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If you finish your ride outside the service area (in shaded areas on the app map) while using the time pass, the return fee will be charged at the regular rate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However, if you return the same device that was returned outside the service area and re-ride it back to the service area, and then contact customer service, the return fee will be refunded</a:t>
            </a:r>
            <a:endParaRPr lang="en-US" sz="525" dirty="0"/>
          </a:p>
        </p:txBody>
      </p:sp>
      <p:sp>
        <p:nvSpPr>
          <p:cNvPr id="27" name="Text 21"/>
          <p:cNvSpPr/>
          <p:nvPr/>
        </p:nvSpPr>
        <p:spPr>
          <a:xfrm>
            <a:off x="3771900" y="2395538"/>
            <a:ext cx="199548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 Information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3771900" y="2543175"/>
            <a:ext cx="1995488" cy="1457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This time pass can be renewed once a day for 30 days from the date of purchase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renewed time pass allows you to freely divide the available time of 30 minutes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Example: After applying the daily 30-minute pass and starting the ride → If you finish after riding for 20 minutes, you will have 10 minutes remaining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available usage times for this time pass are from 00:00 to 04:00 and from 05:00 to 24:00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You can start your ride while the time pass is active during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Coupons will not be displayed when starting a ride outside of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There is no limit to the number of rides during the available usage times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Cross-riding between electric scooters and e-bikes is allowed while using the time pass</a:t>
            </a:r>
            <a:endParaRPr lang="en-US" sz="525" dirty="0"/>
          </a:p>
        </p:txBody>
      </p:sp>
      <p:sp>
        <p:nvSpPr>
          <p:cNvPr id="29" name="Text 23"/>
          <p:cNvSpPr/>
          <p:nvPr/>
        </p:nvSpPr>
        <p:spPr>
          <a:xfrm>
            <a:off x="3771900" y="1981200"/>
            <a:ext cx="199548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validity period of this time pass is 30 days from the date of purchase</a:t>
            </a:r>
            <a:endParaRPr lang="en-US" sz="525" dirty="0"/>
          </a:p>
          <a:p>
            <a:pPr algn="l" indent="0" marL="0">
              <a:lnSpc>
                <a:spcPts val="682"/>
              </a:lnSpc>
              <a:buNone/>
            </a:pPr>
            <a:r>
              <a:rPr lang="en-US" sz="525" spc="-13" kern="0" dirty="0">
                <a:solidFill>
                  <a:srgbClr val="90979B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The time pass will automatically expire after the validity period if not used</a:t>
            </a:r>
            <a:endParaRPr lang="en-US" sz="525" dirty="0"/>
          </a:p>
        </p:txBody>
      </p:sp>
      <p:sp>
        <p:nvSpPr>
          <p:cNvPr id="30" name="Text 24"/>
          <p:cNvSpPr/>
          <p:nvPr/>
        </p:nvSpPr>
        <p:spPr>
          <a:xfrm>
            <a:off x="3771900" y="1807369"/>
            <a:ext cx="1328738" cy="100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spc="-13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Validity Period Information</a:t>
            </a:r>
            <a:endParaRPr lang="en-US" sz="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05038" y="647700"/>
            <a:ext cx="4733925" cy="38481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5038" y="647700"/>
            <a:ext cx="1905000" cy="38481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963" y="647700"/>
            <a:ext cx="1905000" cy="384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5750" y="285750"/>
            <a:ext cx="169068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Prototype Concept </a:t>
            </a:r>
            <a:endParaRPr lang="en-US" sz="11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85975"/>
            <a:ext cx="8686800" cy="966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 Tab Re-Design</a:t>
            </a:r>
            <a:endParaRPr lang="en-US" sz="63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800100"/>
            <a:ext cx="1785938" cy="3843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210050" y="800100"/>
            <a:ext cx="1774940" cy="3843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05500" y="2105025"/>
            <a:ext cx="3009919" cy="27622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905500" y="2159794"/>
            <a:ext cx="638538" cy="166688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5905500" y="2159794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7" name="Shape 5"/>
          <p:cNvSpPr/>
          <p:nvPr/>
        </p:nvSpPr>
        <p:spPr>
          <a:xfrm>
            <a:off x="4285785" y="1486410"/>
            <a:ext cx="1623479" cy="142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Shape 6"/>
          <p:cNvSpPr/>
          <p:nvPr/>
        </p:nvSpPr>
        <p:spPr>
          <a:xfrm>
            <a:off x="5095149" y="1486410"/>
            <a:ext cx="811739" cy="14200"/>
          </a:xfrm>
          <a:prstGeom prst="rect">
            <a:avLst/>
          </a:prstGeom>
          <a:solidFill>
            <a:srgbClr val="161D24"/>
          </a:solidFill>
          <a:ln/>
        </p:spPr>
      </p:sp>
      <p:sp>
        <p:nvSpPr>
          <p:cNvPr id="9" name="Shape 7"/>
          <p:cNvSpPr/>
          <p:nvPr/>
        </p:nvSpPr>
        <p:spPr>
          <a:xfrm>
            <a:off x="4210050" y="1581074"/>
            <a:ext cx="1774940" cy="306236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285785" y="1652071"/>
            <a:ext cx="1618746" cy="279726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4285785" y="1652071"/>
            <a:ext cx="1618746" cy="1374967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285785" y="3074369"/>
            <a:ext cx="1618746" cy="1374967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285785" y="3325227"/>
            <a:ext cx="1618746" cy="1124108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285785" y="3325227"/>
            <a:ext cx="1618746" cy="526555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4285785" y="3922780"/>
            <a:ext cx="1618746" cy="526555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4285785" y="4074594"/>
            <a:ext cx="1618746" cy="374742"/>
          </a:xfrm>
          <a:prstGeom prst="roundRect">
            <a:avLst>
              <a:gd name="adj" fmla="val 29101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56776" y="4145592"/>
            <a:ext cx="1476750" cy="232747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4356776" y="4145592"/>
            <a:ext cx="1476750" cy="118593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356776" y="4287851"/>
            <a:ext cx="1476750" cy="90488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4356776" y="4287851"/>
            <a:ext cx="1476750" cy="90488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356776" y="4157264"/>
            <a:ext cx="828675" cy="95250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549540" y="4145592"/>
            <a:ext cx="283990" cy="118593"/>
          </a:xfrm>
          <a:prstGeom prst="roundRect">
            <a:avLst>
              <a:gd name="adj" fmla="val 61303"/>
            </a:avLst>
          </a:prstGeom>
          <a:solidFill>
            <a:srgbClr val="26C86E"/>
          </a:solidFill>
          <a:ln/>
        </p:spPr>
      </p:sp>
      <p:sp>
        <p:nvSpPr>
          <p:cNvPr id="23" name="Shape 21"/>
          <p:cNvSpPr/>
          <p:nvPr/>
        </p:nvSpPr>
        <p:spPr>
          <a:xfrm>
            <a:off x="4285785" y="3477041"/>
            <a:ext cx="1618746" cy="374742"/>
          </a:xfrm>
          <a:prstGeom prst="roundRect">
            <a:avLst>
              <a:gd name="adj" fmla="val 2910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356776" y="3548039"/>
            <a:ext cx="1476750" cy="232747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4356776" y="3548039"/>
            <a:ext cx="1476750" cy="118593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4356776" y="3690298"/>
            <a:ext cx="1476750" cy="90488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4356776" y="3690298"/>
            <a:ext cx="1476750" cy="90488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4356776" y="3559711"/>
            <a:ext cx="828675" cy="9525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5549540" y="3548039"/>
            <a:ext cx="283990" cy="118593"/>
          </a:xfrm>
          <a:prstGeom prst="roundRect">
            <a:avLst>
              <a:gd name="adj" fmla="val 61303"/>
            </a:avLst>
          </a:prstGeom>
          <a:solidFill>
            <a:srgbClr val="26C86E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5785" y="1902929"/>
            <a:ext cx="1618746" cy="1124108"/>
          </a:xfrm>
          <a:prstGeom prst="rect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4285785" y="1902929"/>
            <a:ext cx="1618746" cy="526555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4285785" y="2500482"/>
            <a:ext cx="1618746" cy="526555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4285785" y="2652296"/>
            <a:ext cx="1618746" cy="374742"/>
          </a:xfrm>
          <a:prstGeom prst="roundRect">
            <a:avLst>
              <a:gd name="adj" fmla="val 29101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356776" y="2723294"/>
            <a:ext cx="1476750" cy="232747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4356776" y="2723294"/>
            <a:ext cx="1476750" cy="118593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4356776" y="2865553"/>
            <a:ext cx="1476750" cy="90488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4356776" y="2865553"/>
            <a:ext cx="1476750" cy="90488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4356776" y="2734966"/>
            <a:ext cx="828675" cy="9525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5549540" y="2723294"/>
            <a:ext cx="283990" cy="118593"/>
          </a:xfrm>
          <a:prstGeom prst="roundRect">
            <a:avLst>
              <a:gd name="adj" fmla="val 61303"/>
            </a:avLst>
          </a:prstGeom>
          <a:solidFill>
            <a:srgbClr val="26C86E"/>
          </a:solidFill>
          <a:ln/>
        </p:spPr>
      </p:sp>
      <p:sp>
        <p:nvSpPr>
          <p:cNvPr id="40" name="Shape 38"/>
          <p:cNvSpPr/>
          <p:nvPr/>
        </p:nvSpPr>
        <p:spPr>
          <a:xfrm>
            <a:off x="4285785" y="2054743"/>
            <a:ext cx="1618746" cy="374742"/>
          </a:xfrm>
          <a:prstGeom prst="roundRect">
            <a:avLst>
              <a:gd name="adj" fmla="val 29101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56776" y="2125740"/>
            <a:ext cx="1476750" cy="232747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4356776" y="2125740"/>
            <a:ext cx="1476750" cy="118593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4356776" y="2267999"/>
            <a:ext cx="1476750" cy="90488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4356776" y="2267999"/>
            <a:ext cx="1476750" cy="90488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4356776" y="2137411"/>
            <a:ext cx="828675" cy="95250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5549540" y="2125740"/>
            <a:ext cx="283990" cy="118593"/>
          </a:xfrm>
          <a:prstGeom prst="roundRect">
            <a:avLst>
              <a:gd name="adj" fmla="val 61303"/>
            </a:avLst>
          </a:prstGeom>
          <a:solidFill>
            <a:srgbClr val="26C86E"/>
          </a:solidFill>
          <a:ln/>
        </p:spPr>
      </p:sp>
      <p:sp>
        <p:nvSpPr>
          <p:cNvPr id="47" name="Shape 45"/>
          <p:cNvSpPr/>
          <p:nvPr/>
        </p:nvSpPr>
        <p:spPr>
          <a:xfrm>
            <a:off x="1909762" y="2138363"/>
            <a:ext cx="166688" cy="166688"/>
          </a:xfrm>
          <a:prstGeom prst="ellipse">
            <a:avLst/>
          </a:prstGeom>
          <a:solidFill>
            <a:srgbClr val="12AE60"/>
          </a:solidFill>
          <a:ln/>
        </p:spPr>
      </p:sp>
      <p:sp>
        <p:nvSpPr>
          <p:cNvPr id="48" name="Shape 46"/>
          <p:cNvSpPr/>
          <p:nvPr/>
        </p:nvSpPr>
        <p:spPr>
          <a:xfrm>
            <a:off x="2066906" y="2147888"/>
            <a:ext cx="1719626" cy="138113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361950" y="1490663"/>
            <a:ext cx="1633538" cy="14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6338" y="1490663"/>
            <a:ext cx="816769" cy="14288"/>
          </a:xfrm>
          <a:prstGeom prst="rect">
            <a:avLst/>
          </a:prstGeom>
          <a:solidFill>
            <a:srgbClr val="161D24"/>
          </a:solidFill>
          <a:ln/>
        </p:spPr>
      </p:sp>
      <p:sp>
        <p:nvSpPr>
          <p:cNvPr id="51" name="Shape 49"/>
          <p:cNvSpPr/>
          <p:nvPr/>
        </p:nvSpPr>
        <p:spPr>
          <a:xfrm>
            <a:off x="285750" y="1585913"/>
            <a:ext cx="1785938" cy="3057525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2" name="Shape 50"/>
          <p:cNvSpPr/>
          <p:nvPr/>
        </p:nvSpPr>
        <p:spPr>
          <a:xfrm>
            <a:off x="361950" y="1657350"/>
            <a:ext cx="1628775" cy="2524125"/>
          </a:xfrm>
          <a:prstGeom prst="rect">
            <a:avLst/>
          </a:prstGeom>
          <a:noFill/>
          <a:ln/>
        </p:spPr>
      </p:sp>
      <p:sp>
        <p:nvSpPr>
          <p:cNvPr id="53" name="Shape 51"/>
          <p:cNvSpPr/>
          <p:nvPr/>
        </p:nvSpPr>
        <p:spPr>
          <a:xfrm>
            <a:off x="361950" y="1657350"/>
            <a:ext cx="1628775" cy="1238250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361950" y="2943225"/>
            <a:ext cx="1628775" cy="1238250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361950" y="3195638"/>
            <a:ext cx="1628775" cy="985838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361950" y="3195638"/>
            <a:ext cx="1604963" cy="457200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361950" y="3724275"/>
            <a:ext cx="1604963" cy="457200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361950" y="3724275"/>
            <a:ext cx="1604963" cy="76200"/>
          </a:xfrm>
          <a:prstGeom prst="rect">
            <a:avLst/>
          </a:prstGeom>
          <a:noFill/>
          <a:ln/>
        </p:spPr>
      </p:sp>
      <p:sp>
        <p:nvSpPr>
          <p:cNvPr id="59" name="Shape 57"/>
          <p:cNvSpPr/>
          <p:nvPr/>
        </p:nvSpPr>
        <p:spPr>
          <a:xfrm>
            <a:off x="361950" y="3848100"/>
            <a:ext cx="1604963" cy="333375"/>
          </a:xfrm>
          <a:prstGeom prst="roundRect">
            <a:avLst>
              <a:gd name="adj" fmla="val 32914"/>
            </a:avLst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433388" y="3919537"/>
            <a:ext cx="1462088" cy="190500"/>
          </a:xfrm>
          <a:prstGeom prst="rect">
            <a:avLst/>
          </a:prstGeom>
          <a:noFill/>
          <a:ln/>
        </p:spPr>
      </p:sp>
      <p:sp>
        <p:nvSpPr>
          <p:cNvPr id="61" name="Shape 59"/>
          <p:cNvSpPr/>
          <p:nvPr/>
        </p:nvSpPr>
        <p:spPr>
          <a:xfrm>
            <a:off x="433388" y="3919537"/>
            <a:ext cx="1462088" cy="85725"/>
          </a:xfrm>
          <a:prstGeom prst="rect">
            <a:avLst/>
          </a:prstGeom>
          <a:noFill/>
          <a:ln/>
        </p:spPr>
      </p:sp>
      <p:sp>
        <p:nvSpPr>
          <p:cNvPr id="62" name="Shape 60"/>
          <p:cNvSpPr/>
          <p:nvPr/>
        </p:nvSpPr>
        <p:spPr>
          <a:xfrm>
            <a:off x="361950" y="3195638"/>
            <a:ext cx="1604963" cy="76200"/>
          </a:xfrm>
          <a:prstGeom prst="rect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361950" y="3319463"/>
            <a:ext cx="1604963" cy="333375"/>
          </a:xfrm>
          <a:prstGeom prst="roundRect">
            <a:avLst>
              <a:gd name="adj" fmla="val 32914"/>
            </a:avLst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433388" y="3390900"/>
            <a:ext cx="1462088" cy="190500"/>
          </a:xfrm>
          <a:prstGeom prst="rect">
            <a:avLst/>
          </a:prstGeom>
          <a:noFill/>
          <a:ln/>
        </p:spPr>
      </p:sp>
      <p:sp>
        <p:nvSpPr>
          <p:cNvPr id="65" name="Shape 63"/>
          <p:cNvSpPr/>
          <p:nvPr/>
        </p:nvSpPr>
        <p:spPr>
          <a:xfrm>
            <a:off x="433388" y="3390900"/>
            <a:ext cx="1462088" cy="85725"/>
          </a:xfrm>
          <a:prstGeom prst="rect">
            <a:avLst/>
          </a:prstGeom>
          <a:noFill/>
          <a:ln/>
        </p:spPr>
      </p:sp>
      <p:sp>
        <p:nvSpPr>
          <p:cNvPr id="66" name="Shape 64"/>
          <p:cNvSpPr/>
          <p:nvPr/>
        </p:nvSpPr>
        <p:spPr>
          <a:xfrm>
            <a:off x="361950" y="1909762"/>
            <a:ext cx="1628775" cy="985838"/>
          </a:xfrm>
          <a:prstGeom prst="rect">
            <a:avLst/>
          </a:prstGeom>
          <a:noFill/>
          <a:ln/>
        </p:spPr>
      </p:sp>
      <p:sp>
        <p:nvSpPr>
          <p:cNvPr id="67" name="Shape 65"/>
          <p:cNvSpPr/>
          <p:nvPr/>
        </p:nvSpPr>
        <p:spPr>
          <a:xfrm>
            <a:off x="361950" y="1909762"/>
            <a:ext cx="1604963" cy="457200"/>
          </a:xfrm>
          <a:prstGeom prst="rect">
            <a:avLst/>
          </a:prstGeom>
          <a:noFill/>
          <a:ln/>
        </p:spPr>
      </p:sp>
      <p:sp>
        <p:nvSpPr>
          <p:cNvPr id="68" name="Shape 66"/>
          <p:cNvSpPr/>
          <p:nvPr/>
        </p:nvSpPr>
        <p:spPr>
          <a:xfrm>
            <a:off x="361950" y="2438400"/>
            <a:ext cx="1604963" cy="457200"/>
          </a:xfrm>
          <a:prstGeom prst="rect">
            <a:avLst/>
          </a:prstGeom>
          <a:noFill/>
          <a:ln/>
        </p:spPr>
      </p:sp>
      <p:sp>
        <p:nvSpPr>
          <p:cNvPr id="69" name="Shape 67"/>
          <p:cNvSpPr/>
          <p:nvPr/>
        </p:nvSpPr>
        <p:spPr>
          <a:xfrm>
            <a:off x="361950" y="2438400"/>
            <a:ext cx="1604963" cy="76200"/>
          </a:xfrm>
          <a:prstGeom prst="rect">
            <a:avLst/>
          </a:prstGeom>
          <a:noFill/>
          <a:ln/>
        </p:spPr>
      </p:sp>
      <p:sp>
        <p:nvSpPr>
          <p:cNvPr id="70" name="Shape 68"/>
          <p:cNvSpPr/>
          <p:nvPr/>
        </p:nvSpPr>
        <p:spPr>
          <a:xfrm>
            <a:off x="361950" y="2562225"/>
            <a:ext cx="1604963" cy="333375"/>
          </a:xfrm>
          <a:prstGeom prst="roundRect">
            <a:avLst>
              <a:gd name="adj" fmla="val 32914"/>
            </a:avLst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433388" y="2633663"/>
            <a:ext cx="1462088" cy="190500"/>
          </a:xfrm>
          <a:prstGeom prst="rect">
            <a:avLst/>
          </a:prstGeom>
          <a:noFill/>
          <a:ln/>
        </p:spPr>
      </p:sp>
      <p:sp>
        <p:nvSpPr>
          <p:cNvPr id="72" name="Shape 70"/>
          <p:cNvSpPr/>
          <p:nvPr/>
        </p:nvSpPr>
        <p:spPr>
          <a:xfrm>
            <a:off x="433388" y="2633663"/>
            <a:ext cx="1462088" cy="85725"/>
          </a:xfrm>
          <a:prstGeom prst="rect">
            <a:avLst/>
          </a:prstGeom>
          <a:noFill/>
          <a:ln/>
        </p:spPr>
      </p:sp>
      <p:sp>
        <p:nvSpPr>
          <p:cNvPr id="73" name="Shape 71"/>
          <p:cNvSpPr/>
          <p:nvPr/>
        </p:nvSpPr>
        <p:spPr>
          <a:xfrm>
            <a:off x="361950" y="1909762"/>
            <a:ext cx="1604963" cy="76200"/>
          </a:xfrm>
          <a:prstGeom prst="rect">
            <a:avLst/>
          </a:prstGeom>
          <a:noFill/>
          <a:ln/>
        </p:spPr>
      </p:sp>
      <p:sp>
        <p:nvSpPr>
          <p:cNvPr id="74" name="Shape 72"/>
          <p:cNvSpPr/>
          <p:nvPr/>
        </p:nvSpPr>
        <p:spPr>
          <a:xfrm>
            <a:off x="361950" y="2033588"/>
            <a:ext cx="1604963" cy="333375"/>
          </a:xfrm>
          <a:prstGeom prst="roundRect">
            <a:avLst>
              <a:gd name="adj" fmla="val 32914"/>
            </a:avLst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433388" y="2105025"/>
            <a:ext cx="1462088" cy="190500"/>
          </a:xfrm>
          <a:prstGeom prst="rect">
            <a:avLst/>
          </a:prstGeom>
          <a:noFill/>
          <a:ln/>
        </p:spPr>
      </p:sp>
      <p:sp>
        <p:nvSpPr>
          <p:cNvPr id="76" name="Shape 74"/>
          <p:cNvSpPr/>
          <p:nvPr/>
        </p:nvSpPr>
        <p:spPr>
          <a:xfrm>
            <a:off x="433388" y="2105025"/>
            <a:ext cx="1462088" cy="85725"/>
          </a:xfrm>
          <a:prstGeom prst="rect">
            <a:avLst/>
          </a:prstGeom>
          <a:noFill/>
          <a:ln/>
        </p:spPr>
      </p:sp>
      <p:pic>
        <p:nvPicPr>
          <p:cNvPr id="7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2196" y="2240633"/>
            <a:ext cx="471878" cy="11052"/>
          </a:xfrm>
          <a:prstGeom prst="rect">
            <a:avLst/>
          </a:prstGeom>
        </p:spPr>
      </p:pic>
      <p:pic>
        <p:nvPicPr>
          <p:cNvPr id="7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800100"/>
            <a:ext cx="1774940" cy="208260"/>
          </a:xfrm>
          <a:prstGeom prst="rect">
            <a:avLst/>
          </a:prstGeom>
        </p:spPr>
      </p:pic>
      <p:pic>
        <p:nvPicPr>
          <p:cNvPr id="7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1008359"/>
            <a:ext cx="1774940" cy="227193"/>
          </a:xfrm>
          <a:prstGeom prst="rect">
            <a:avLst/>
          </a:prstGeom>
        </p:spPr>
      </p:pic>
      <p:pic>
        <p:nvPicPr>
          <p:cNvPr id="8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915" y="2214439"/>
            <a:ext cx="471878" cy="11052"/>
          </a:xfrm>
          <a:prstGeom prst="rect">
            <a:avLst/>
          </a:prstGeom>
        </p:spPr>
      </p:pic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800100"/>
            <a:ext cx="1785938" cy="208260"/>
          </a:xfrm>
          <a:prstGeom prst="rect">
            <a:avLst/>
          </a:prstGeom>
        </p:spPr>
      </p:pic>
      <p:pic>
        <p:nvPicPr>
          <p:cNvPr id="8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1009650"/>
            <a:ext cx="1785938" cy="228600"/>
          </a:xfrm>
          <a:prstGeom prst="rect">
            <a:avLst/>
          </a:prstGeom>
        </p:spPr>
      </p:pic>
      <p:pic>
        <p:nvPicPr>
          <p:cNvPr id="8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750" y="3919537"/>
            <a:ext cx="85725" cy="85725"/>
          </a:xfrm>
          <a:prstGeom prst="rect">
            <a:avLst/>
          </a:prstGeom>
        </p:spPr>
      </p:pic>
      <p:pic>
        <p:nvPicPr>
          <p:cNvPr id="8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9750" y="3390900"/>
            <a:ext cx="85725" cy="85725"/>
          </a:xfrm>
          <a:prstGeom prst="rect">
            <a:avLst/>
          </a:prstGeom>
        </p:spPr>
      </p:pic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2633663"/>
            <a:ext cx="85725" cy="85725"/>
          </a:xfrm>
          <a:prstGeom prst="rect">
            <a:avLst/>
          </a:prstGeom>
        </p:spPr>
      </p:pic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9750" y="2105025"/>
            <a:ext cx="85725" cy="85725"/>
          </a:xfrm>
          <a:prstGeom prst="rect">
            <a:avLst/>
          </a:prstGeom>
        </p:spPr>
      </p:pic>
      <p:sp>
        <p:nvSpPr>
          <p:cNvPr id="87" name="Text 75"/>
          <p:cNvSpPr/>
          <p:nvPr/>
        </p:nvSpPr>
        <p:spPr>
          <a:xfrm>
            <a:off x="285750" y="285750"/>
            <a:ext cx="226695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 Tab Card Re-Design</a:t>
            </a:r>
            <a:endParaRPr lang="en-US" sz="1125" dirty="0"/>
          </a:p>
        </p:txBody>
      </p:sp>
      <p:sp>
        <p:nvSpPr>
          <p:cNvPr id="88" name="Text 76"/>
          <p:cNvSpPr/>
          <p:nvPr/>
        </p:nvSpPr>
        <p:spPr>
          <a:xfrm>
            <a:off x="6639297" y="2105025"/>
            <a:ext cx="2733331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Distinct buy again button as the main focal point for the user</a:t>
            </a:r>
            <a:endParaRPr lang="en-US" sz="900" dirty="0"/>
          </a:p>
        </p:txBody>
      </p:sp>
      <p:sp>
        <p:nvSpPr>
          <p:cNvPr id="89" name="Text 77"/>
          <p:cNvSpPr/>
          <p:nvPr/>
        </p:nvSpPr>
        <p:spPr>
          <a:xfrm>
            <a:off x="4541379" y="1306550"/>
            <a:ext cx="779056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596" b="1" spc="-15" kern="0" dirty="0">
                <a:solidFill>
                  <a:srgbClr val="C5C8C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Products</a:t>
            </a:r>
            <a:endParaRPr lang="en-US" sz="596" dirty="0"/>
          </a:p>
        </p:txBody>
      </p:sp>
      <p:sp>
        <p:nvSpPr>
          <p:cNvPr id="90" name="Text 78"/>
          <p:cNvSpPr/>
          <p:nvPr/>
        </p:nvSpPr>
        <p:spPr>
          <a:xfrm>
            <a:off x="5331805" y="1306550"/>
            <a:ext cx="797989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2"/>
              </a:lnSpc>
              <a:buNone/>
            </a:pPr>
            <a:r>
              <a:rPr lang="en-US" sz="596" b="1" spc="-15" kern="0" dirty="0">
                <a:solidFill>
                  <a:srgbClr val="161D2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</a:t>
            </a:r>
            <a:endParaRPr lang="en-US" sz="596" dirty="0"/>
          </a:p>
        </p:txBody>
      </p:sp>
      <p:sp>
        <p:nvSpPr>
          <p:cNvPr id="91" name="Text 79"/>
          <p:cNvSpPr/>
          <p:nvPr/>
        </p:nvSpPr>
        <p:spPr>
          <a:xfrm>
            <a:off x="4285785" y="3074369"/>
            <a:ext cx="2075946" cy="22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596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Passes</a:t>
            </a:r>
            <a:endParaRPr lang="en-US" sz="596" dirty="0"/>
          </a:p>
        </p:txBody>
      </p:sp>
      <p:sp>
        <p:nvSpPr>
          <p:cNvPr id="92" name="Text 80"/>
          <p:cNvSpPr/>
          <p:nvPr/>
        </p:nvSpPr>
        <p:spPr>
          <a:xfrm>
            <a:off x="4285785" y="3922780"/>
            <a:ext cx="2075946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7"/>
              </a:lnSpc>
              <a:buNone/>
            </a:pPr>
            <a:r>
              <a:rPr lang="en-US" sz="447" spc="-4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47" dirty="0"/>
          </a:p>
        </p:txBody>
      </p:sp>
      <p:sp>
        <p:nvSpPr>
          <p:cNvPr id="93" name="Text 81"/>
          <p:cNvSpPr/>
          <p:nvPr/>
        </p:nvSpPr>
        <p:spPr>
          <a:xfrm>
            <a:off x="4356776" y="4287851"/>
            <a:ext cx="193395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596" spc="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</a:t>
            </a:r>
            <a:endParaRPr lang="en-US" sz="596" dirty="0"/>
          </a:p>
        </p:txBody>
      </p:sp>
      <p:sp>
        <p:nvSpPr>
          <p:cNvPr id="94" name="Text 82"/>
          <p:cNvSpPr/>
          <p:nvPr/>
        </p:nvSpPr>
        <p:spPr>
          <a:xfrm>
            <a:off x="5591528" y="4183457"/>
            <a:ext cx="657225" cy="42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53"/>
              </a:lnSpc>
              <a:buNone/>
            </a:pPr>
            <a:r>
              <a:rPr lang="en-US" sz="353" b="1" spc="-4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Buy again</a:t>
            </a:r>
            <a:endParaRPr lang="en-US" sz="353" dirty="0"/>
          </a:p>
        </p:txBody>
      </p:sp>
      <p:sp>
        <p:nvSpPr>
          <p:cNvPr id="95" name="Text 83"/>
          <p:cNvSpPr/>
          <p:nvPr/>
        </p:nvSpPr>
        <p:spPr>
          <a:xfrm>
            <a:off x="4356776" y="4157264"/>
            <a:ext cx="1285875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45"/>
              </a:lnSpc>
              <a:buNone/>
            </a:pPr>
            <a:r>
              <a:rPr lang="en-US" sz="74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745" dirty="0"/>
          </a:p>
        </p:txBody>
      </p:sp>
      <p:sp>
        <p:nvSpPr>
          <p:cNvPr id="96" name="Text 84"/>
          <p:cNvSpPr/>
          <p:nvPr/>
        </p:nvSpPr>
        <p:spPr>
          <a:xfrm>
            <a:off x="4285785" y="3325227"/>
            <a:ext cx="2075946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7"/>
              </a:lnSpc>
              <a:buNone/>
            </a:pPr>
            <a:r>
              <a:rPr lang="en-US" sz="447" spc="-4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47" dirty="0"/>
          </a:p>
        </p:txBody>
      </p:sp>
      <p:sp>
        <p:nvSpPr>
          <p:cNvPr id="97" name="Text 85"/>
          <p:cNvSpPr/>
          <p:nvPr/>
        </p:nvSpPr>
        <p:spPr>
          <a:xfrm>
            <a:off x="4356776" y="3690298"/>
            <a:ext cx="193395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596" spc="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</a:t>
            </a:r>
            <a:endParaRPr lang="en-US" sz="596" dirty="0"/>
          </a:p>
        </p:txBody>
      </p:sp>
      <p:sp>
        <p:nvSpPr>
          <p:cNvPr id="98" name="Text 86"/>
          <p:cNvSpPr/>
          <p:nvPr/>
        </p:nvSpPr>
        <p:spPr>
          <a:xfrm>
            <a:off x="5591528" y="3585904"/>
            <a:ext cx="657225" cy="42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53"/>
              </a:lnSpc>
              <a:buNone/>
            </a:pPr>
            <a:r>
              <a:rPr lang="en-US" sz="353" b="1" spc="-4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Buy again</a:t>
            </a:r>
            <a:endParaRPr lang="en-US" sz="353" dirty="0"/>
          </a:p>
        </p:txBody>
      </p:sp>
      <p:sp>
        <p:nvSpPr>
          <p:cNvPr id="99" name="Text 87"/>
          <p:cNvSpPr/>
          <p:nvPr/>
        </p:nvSpPr>
        <p:spPr>
          <a:xfrm>
            <a:off x="4356776" y="3559711"/>
            <a:ext cx="1285875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45"/>
              </a:lnSpc>
              <a:buNone/>
            </a:pPr>
            <a:r>
              <a:rPr lang="en-US" sz="74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745" dirty="0"/>
          </a:p>
        </p:txBody>
      </p:sp>
      <p:sp>
        <p:nvSpPr>
          <p:cNvPr id="100" name="Text 88"/>
          <p:cNvSpPr/>
          <p:nvPr/>
        </p:nvSpPr>
        <p:spPr>
          <a:xfrm>
            <a:off x="4285785" y="1652071"/>
            <a:ext cx="2075946" cy="22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9"/>
              </a:lnSpc>
              <a:buNone/>
            </a:pPr>
            <a:r>
              <a:rPr lang="en-US" sz="596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Monthly Passes</a:t>
            </a:r>
            <a:endParaRPr lang="en-US" sz="596" dirty="0"/>
          </a:p>
        </p:txBody>
      </p:sp>
      <p:sp>
        <p:nvSpPr>
          <p:cNvPr id="101" name="Text 89"/>
          <p:cNvSpPr/>
          <p:nvPr/>
        </p:nvSpPr>
        <p:spPr>
          <a:xfrm>
            <a:off x="4285785" y="2500482"/>
            <a:ext cx="2075946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7"/>
              </a:lnSpc>
              <a:buNone/>
            </a:pPr>
            <a:r>
              <a:rPr lang="en-US" sz="447" spc="-4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47" dirty="0"/>
          </a:p>
        </p:txBody>
      </p:sp>
      <p:sp>
        <p:nvSpPr>
          <p:cNvPr id="102" name="Text 90"/>
          <p:cNvSpPr/>
          <p:nvPr/>
        </p:nvSpPr>
        <p:spPr>
          <a:xfrm>
            <a:off x="4356776" y="2865553"/>
            <a:ext cx="193395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596" spc="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</a:t>
            </a:r>
            <a:endParaRPr lang="en-US" sz="596" dirty="0"/>
          </a:p>
        </p:txBody>
      </p:sp>
      <p:sp>
        <p:nvSpPr>
          <p:cNvPr id="103" name="Text 91"/>
          <p:cNvSpPr/>
          <p:nvPr/>
        </p:nvSpPr>
        <p:spPr>
          <a:xfrm>
            <a:off x="5591528" y="2761159"/>
            <a:ext cx="657225" cy="42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53"/>
              </a:lnSpc>
              <a:buNone/>
            </a:pPr>
            <a:r>
              <a:rPr lang="en-US" sz="353" b="1" spc="-4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Buy again</a:t>
            </a:r>
            <a:endParaRPr lang="en-US" sz="353" dirty="0"/>
          </a:p>
        </p:txBody>
      </p:sp>
      <p:sp>
        <p:nvSpPr>
          <p:cNvPr id="104" name="Text 92"/>
          <p:cNvSpPr/>
          <p:nvPr/>
        </p:nvSpPr>
        <p:spPr>
          <a:xfrm>
            <a:off x="4356776" y="2734966"/>
            <a:ext cx="1285875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45"/>
              </a:lnSpc>
              <a:buNone/>
            </a:pPr>
            <a:r>
              <a:rPr lang="en-US" sz="74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745" dirty="0"/>
          </a:p>
        </p:txBody>
      </p:sp>
      <p:sp>
        <p:nvSpPr>
          <p:cNvPr id="105" name="Text 93"/>
          <p:cNvSpPr/>
          <p:nvPr/>
        </p:nvSpPr>
        <p:spPr>
          <a:xfrm>
            <a:off x="4285785" y="1902929"/>
            <a:ext cx="2075946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7"/>
              </a:lnSpc>
              <a:buNone/>
            </a:pPr>
            <a:r>
              <a:rPr lang="en-US" sz="447" spc="-4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47" dirty="0"/>
          </a:p>
        </p:txBody>
      </p:sp>
      <p:sp>
        <p:nvSpPr>
          <p:cNvPr id="106" name="Text 94"/>
          <p:cNvSpPr/>
          <p:nvPr/>
        </p:nvSpPr>
        <p:spPr>
          <a:xfrm>
            <a:off x="4356776" y="2267999"/>
            <a:ext cx="193395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12"/>
              </a:lnSpc>
              <a:buNone/>
            </a:pPr>
            <a:r>
              <a:rPr lang="en-US" sz="596" spc="6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</a:t>
            </a:r>
            <a:endParaRPr lang="en-US" sz="596" dirty="0"/>
          </a:p>
        </p:txBody>
      </p:sp>
      <p:sp>
        <p:nvSpPr>
          <p:cNvPr id="107" name="Text 95"/>
          <p:cNvSpPr/>
          <p:nvPr/>
        </p:nvSpPr>
        <p:spPr>
          <a:xfrm>
            <a:off x="5591528" y="2163605"/>
            <a:ext cx="657225" cy="42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53"/>
              </a:lnSpc>
              <a:buNone/>
            </a:pPr>
            <a:r>
              <a:rPr lang="en-US" sz="353" b="1" spc="-4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Buy again</a:t>
            </a:r>
            <a:endParaRPr lang="en-US" sz="353" dirty="0"/>
          </a:p>
        </p:txBody>
      </p:sp>
      <p:sp>
        <p:nvSpPr>
          <p:cNvPr id="108" name="Text 96"/>
          <p:cNvSpPr/>
          <p:nvPr/>
        </p:nvSpPr>
        <p:spPr>
          <a:xfrm>
            <a:off x="4356776" y="2137411"/>
            <a:ext cx="1285875" cy="95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45"/>
              </a:lnSpc>
              <a:buNone/>
            </a:pPr>
            <a:r>
              <a:rPr lang="en-US" sz="74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745" dirty="0"/>
          </a:p>
        </p:txBody>
      </p:sp>
      <p:sp>
        <p:nvSpPr>
          <p:cNvPr id="109" name="Text 97"/>
          <p:cNvSpPr/>
          <p:nvPr/>
        </p:nvSpPr>
        <p:spPr>
          <a:xfrm>
            <a:off x="2634016" y="2147888"/>
            <a:ext cx="1609725" cy="138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90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Simplified card design</a:t>
            </a:r>
            <a:endParaRPr lang="en-US" sz="900" dirty="0"/>
          </a:p>
        </p:txBody>
      </p:sp>
      <p:sp>
        <p:nvSpPr>
          <p:cNvPr id="110" name="Text 98"/>
          <p:cNvSpPr/>
          <p:nvPr/>
        </p:nvSpPr>
        <p:spPr>
          <a:xfrm>
            <a:off x="619125" y="1309688"/>
            <a:ext cx="78105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6"/>
              </a:lnSpc>
              <a:buNone/>
            </a:pPr>
            <a:r>
              <a:rPr lang="en-US" sz="600" b="1" spc="-15" kern="0" dirty="0">
                <a:solidFill>
                  <a:srgbClr val="C5C8CE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Products</a:t>
            </a:r>
            <a:endParaRPr lang="en-US" sz="600" dirty="0"/>
          </a:p>
        </p:txBody>
      </p:sp>
      <p:sp>
        <p:nvSpPr>
          <p:cNvPr id="111" name="Text 99"/>
          <p:cNvSpPr/>
          <p:nvPr/>
        </p:nvSpPr>
        <p:spPr>
          <a:xfrm>
            <a:off x="1414463" y="1309688"/>
            <a:ext cx="800100" cy="90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16"/>
              </a:lnSpc>
              <a:buNone/>
            </a:pPr>
            <a:r>
              <a:rPr lang="en-US" sz="600" b="1" spc="-15" kern="0" dirty="0">
                <a:solidFill>
                  <a:srgbClr val="161D24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</a:t>
            </a:r>
            <a:endParaRPr lang="en-US" sz="600" dirty="0"/>
          </a:p>
        </p:txBody>
      </p:sp>
      <p:sp>
        <p:nvSpPr>
          <p:cNvPr id="112" name="Text 100"/>
          <p:cNvSpPr/>
          <p:nvPr/>
        </p:nvSpPr>
        <p:spPr>
          <a:xfrm>
            <a:off x="361950" y="2943225"/>
            <a:ext cx="2085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Passes</a:t>
            </a:r>
            <a:endParaRPr lang="en-US" sz="600" dirty="0"/>
          </a:p>
        </p:txBody>
      </p:sp>
      <p:sp>
        <p:nvSpPr>
          <p:cNvPr id="113" name="Text 101"/>
          <p:cNvSpPr/>
          <p:nvPr/>
        </p:nvSpPr>
        <p:spPr>
          <a:xfrm>
            <a:off x="433388" y="4052888"/>
            <a:ext cx="1919287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8"/>
              </a:lnSpc>
              <a:buNone/>
            </a:pPr>
            <a:r>
              <a:rPr lang="en-US" sz="375" spc="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₩49,900/30 days</a:t>
            </a:r>
            <a:endParaRPr lang="en-US" sz="375" dirty="0"/>
          </a:p>
        </p:txBody>
      </p:sp>
      <p:sp>
        <p:nvSpPr>
          <p:cNvPr id="114" name="Text 102"/>
          <p:cNvSpPr/>
          <p:nvPr/>
        </p:nvSpPr>
        <p:spPr>
          <a:xfrm>
            <a:off x="433388" y="3919537"/>
            <a:ext cx="146208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675" dirty="0"/>
          </a:p>
        </p:txBody>
      </p:sp>
      <p:sp>
        <p:nvSpPr>
          <p:cNvPr id="115" name="Text 103"/>
          <p:cNvSpPr/>
          <p:nvPr/>
        </p:nvSpPr>
        <p:spPr>
          <a:xfrm>
            <a:off x="361950" y="3743325"/>
            <a:ext cx="1176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50" dirty="0"/>
          </a:p>
        </p:txBody>
      </p:sp>
      <p:sp>
        <p:nvSpPr>
          <p:cNvPr id="116" name="Text 104"/>
          <p:cNvSpPr/>
          <p:nvPr/>
        </p:nvSpPr>
        <p:spPr>
          <a:xfrm>
            <a:off x="1628775" y="3743325"/>
            <a:ext cx="795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-July 4, 2024</a:t>
            </a:r>
            <a:endParaRPr lang="en-US" sz="450" dirty="0"/>
          </a:p>
        </p:txBody>
      </p:sp>
      <p:sp>
        <p:nvSpPr>
          <p:cNvPr id="117" name="Text 105"/>
          <p:cNvSpPr/>
          <p:nvPr/>
        </p:nvSpPr>
        <p:spPr>
          <a:xfrm>
            <a:off x="433388" y="3524250"/>
            <a:ext cx="1919287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8"/>
              </a:lnSpc>
              <a:buNone/>
            </a:pPr>
            <a:r>
              <a:rPr lang="en-US" sz="375" spc="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₩49,900/30 days</a:t>
            </a:r>
            <a:endParaRPr lang="en-US" sz="375" dirty="0"/>
          </a:p>
        </p:txBody>
      </p:sp>
      <p:sp>
        <p:nvSpPr>
          <p:cNvPr id="118" name="Text 106"/>
          <p:cNvSpPr/>
          <p:nvPr/>
        </p:nvSpPr>
        <p:spPr>
          <a:xfrm>
            <a:off x="433388" y="3390900"/>
            <a:ext cx="146208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675" dirty="0"/>
          </a:p>
        </p:txBody>
      </p:sp>
      <p:sp>
        <p:nvSpPr>
          <p:cNvPr id="119" name="Text 107"/>
          <p:cNvSpPr/>
          <p:nvPr/>
        </p:nvSpPr>
        <p:spPr>
          <a:xfrm>
            <a:off x="361950" y="3214688"/>
            <a:ext cx="1176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50" dirty="0"/>
          </a:p>
        </p:txBody>
      </p:sp>
      <p:sp>
        <p:nvSpPr>
          <p:cNvPr id="120" name="Text 108"/>
          <p:cNvSpPr/>
          <p:nvPr/>
        </p:nvSpPr>
        <p:spPr>
          <a:xfrm>
            <a:off x="1628775" y="3214688"/>
            <a:ext cx="795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-July 4, 2024</a:t>
            </a:r>
            <a:endParaRPr lang="en-US" sz="450" dirty="0"/>
          </a:p>
        </p:txBody>
      </p:sp>
      <p:sp>
        <p:nvSpPr>
          <p:cNvPr id="121" name="Text 109"/>
          <p:cNvSpPr/>
          <p:nvPr/>
        </p:nvSpPr>
        <p:spPr>
          <a:xfrm>
            <a:off x="361950" y="1657350"/>
            <a:ext cx="2085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00" b="1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Monthly Passes</a:t>
            </a:r>
            <a:endParaRPr lang="en-US" sz="600" dirty="0"/>
          </a:p>
        </p:txBody>
      </p:sp>
      <p:sp>
        <p:nvSpPr>
          <p:cNvPr id="122" name="Text 110"/>
          <p:cNvSpPr/>
          <p:nvPr/>
        </p:nvSpPr>
        <p:spPr>
          <a:xfrm>
            <a:off x="433388" y="2767013"/>
            <a:ext cx="1919287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8"/>
              </a:lnSpc>
              <a:buNone/>
            </a:pPr>
            <a:r>
              <a:rPr lang="en-US" sz="375" spc="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₩49,900/30 days</a:t>
            </a:r>
            <a:endParaRPr lang="en-US" sz="375" dirty="0"/>
          </a:p>
        </p:txBody>
      </p:sp>
      <p:sp>
        <p:nvSpPr>
          <p:cNvPr id="123" name="Text 111"/>
          <p:cNvSpPr/>
          <p:nvPr/>
        </p:nvSpPr>
        <p:spPr>
          <a:xfrm>
            <a:off x="433388" y="2633663"/>
            <a:ext cx="146208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675" dirty="0"/>
          </a:p>
        </p:txBody>
      </p:sp>
      <p:sp>
        <p:nvSpPr>
          <p:cNvPr id="124" name="Text 112"/>
          <p:cNvSpPr/>
          <p:nvPr/>
        </p:nvSpPr>
        <p:spPr>
          <a:xfrm>
            <a:off x="361950" y="2457450"/>
            <a:ext cx="1176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50" dirty="0"/>
          </a:p>
        </p:txBody>
      </p:sp>
      <p:sp>
        <p:nvSpPr>
          <p:cNvPr id="125" name="Text 113"/>
          <p:cNvSpPr/>
          <p:nvPr/>
        </p:nvSpPr>
        <p:spPr>
          <a:xfrm>
            <a:off x="1628775" y="2457450"/>
            <a:ext cx="795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-July 4, 2024</a:t>
            </a:r>
            <a:endParaRPr lang="en-US" sz="450" dirty="0"/>
          </a:p>
        </p:txBody>
      </p:sp>
      <p:sp>
        <p:nvSpPr>
          <p:cNvPr id="126" name="Text 114"/>
          <p:cNvSpPr/>
          <p:nvPr/>
        </p:nvSpPr>
        <p:spPr>
          <a:xfrm>
            <a:off x="433388" y="2238375"/>
            <a:ext cx="1919287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48"/>
              </a:lnSpc>
              <a:buNone/>
            </a:pPr>
            <a:r>
              <a:rPr lang="en-US" sz="375" spc="4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₩49,900/30 days</a:t>
            </a:r>
            <a:endParaRPr lang="en-US" sz="375" dirty="0"/>
          </a:p>
        </p:txBody>
      </p:sp>
      <p:sp>
        <p:nvSpPr>
          <p:cNvPr id="127" name="Text 115"/>
          <p:cNvSpPr/>
          <p:nvPr/>
        </p:nvSpPr>
        <p:spPr>
          <a:xfrm>
            <a:off x="433388" y="2105025"/>
            <a:ext cx="146208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75" b="1" spc="-7" kern="0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minutes per day </a:t>
            </a:r>
            <a:endParaRPr lang="en-US" sz="675" dirty="0"/>
          </a:p>
        </p:txBody>
      </p:sp>
      <p:sp>
        <p:nvSpPr>
          <p:cNvPr id="128" name="Text 116"/>
          <p:cNvSpPr/>
          <p:nvPr/>
        </p:nvSpPr>
        <p:spPr>
          <a:xfrm>
            <a:off x="361950" y="1928813"/>
            <a:ext cx="1176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Purchase date: June 5, 2024</a:t>
            </a:r>
            <a:endParaRPr lang="en-US" sz="450" dirty="0"/>
          </a:p>
        </p:txBody>
      </p:sp>
      <p:sp>
        <p:nvSpPr>
          <p:cNvPr id="129" name="Text 117"/>
          <p:cNvSpPr/>
          <p:nvPr/>
        </p:nvSpPr>
        <p:spPr>
          <a:xfrm>
            <a:off x="1628775" y="1928813"/>
            <a:ext cx="795338" cy="57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450"/>
              </a:lnSpc>
              <a:buNone/>
            </a:pPr>
            <a:r>
              <a:rPr lang="en-US" sz="450" spc="-5" kern="0" dirty="0">
                <a:solidFill>
                  <a:srgbClr val="75757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-July 4, 2024</a:t>
            </a:r>
            <a:endParaRPr lang="en-US" sz="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7413" y="833438"/>
            <a:ext cx="4829175" cy="39433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2157413" y="833438"/>
            <a:ext cx="2000250" cy="394335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2157413" y="833438"/>
            <a:ext cx="2000250" cy="3943350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1588" y="881063"/>
            <a:ext cx="1905000" cy="38481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8" y="881063"/>
            <a:ext cx="1905000" cy="384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5750" y="285750"/>
            <a:ext cx="169068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125" dirty="0">
                <a:solidFill>
                  <a:srgbClr val="00000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Prototype Concept</a:t>
            </a:r>
            <a:endParaRPr lang="en-US" sz="11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6C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8900" y="2090738"/>
            <a:ext cx="4343400" cy="966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7608"/>
              </a:lnSpc>
              <a:buNone/>
            </a:pPr>
            <a:r>
              <a:rPr lang="en-US" sz="6375" b="1" spc="-12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63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2025-07-29T01:33:05Z</dcterms:created>
  <dcterms:modified xsi:type="dcterms:W3CDTF">2025-07-29T01:33:05Z</dcterms:modified>
</cp:coreProperties>
</file>